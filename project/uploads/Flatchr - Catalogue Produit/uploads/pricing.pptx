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8229600" cx="14630400"/>
  <p:notesSz cx="8229600" cy="14630400"/>
  <p:embeddedFontLst>
    <p:embeddedFont>
      <p:font typeface="Plus Jakarta Sans ExtraBold"/>
      <p:bold r:id="rId33"/>
      <p:boldItalic r:id="rId34"/>
    </p:embeddedFont>
    <p:embeddedFont>
      <p:font typeface="Poppins"/>
      <p:regular r:id="rId35"/>
      <p:bold r:id="rId36"/>
      <p:italic r:id="rId37"/>
      <p:boldItalic r:id="rId38"/>
    </p:embeddedFont>
    <p:embeddedFont>
      <p:font typeface="Geist"/>
      <p:regular r:id="rId39"/>
      <p:bold r:id="rId40"/>
      <p:italic r:id="rId41"/>
      <p:boldItalic r:id="rId42"/>
    </p:embeddedFont>
    <p:embeddedFont>
      <p:font typeface="Plus Jakarta Sans"/>
      <p:regular r:id="rId43"/>
      <p:bold r:id="rId44"/>
      <p:italic r:id="rId45"/>
      <p:boldItalic r:id="rId46"/>
    </p:embeddedFont>
    <p:embeddedFont>
      <p:font typeface="Lato"/>
      <p:regular r:id="rId47"/>
      <p:bold r:id="rId48"/>
      <p:italic r:id="rId49"/>
      <p:boldItalic r:id="rId50"/>
    </p:embeddedFont>
    <p:embeddedFont>
      <p:font typeface="Poppins SemiBold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4168FE-ED1A-4A1F-941C-45CE7FB4389F}">
  <a:tblStyle styleId="{844168FE-ED1A-4A1F-941C-45CE7FB4389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eist-bold.fntdata"/><Relationship Id="rId42" Type="http://schemas.openxmlformats.org/officeDocument/2006/relationships/font" Target="fonts/Geist-boldItalic.fntdata"/><Relationship Id="rId41" Type="http://schemas.openxmlformats.org/officeDocument/2006/relationships/font" Target="fonts/Geist-italic.fntdata"/><Relationship Id="rId44" Type="http://schemas.openxmlformats.org/officeDocument/2006/relationships/font" Target="fonts/PlusJakartaSans-bold.fntdata"/><Relationship Id="rId43" Type="http://schemas.openxmlformats.org/officeDocument/2006/relationships/font" Target="fonts/PlusJakartaSans-regular.fntdata"/><Relationship Id="rId46" Type="http://schemas.openxmlformats.org/officeDocument/2006/relationships/font" Target="fonts/PlusJakartaSans-boldItalic.fntdata"/><Relationship Id="rId45" Type="http://schemas.openxmlformats.org/officeDocument/2006/relationships/font" Target="fonts/PlusJakartaSans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bold.fntdata"/><Relationship Id="rId47" Type="http://schemas.openxmlformats.org/officeDocument/2006/relationships/font" Target="fonts/Lato-regular.fntdata"/><Relationship Id="rId49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PlusJakartaSansExtraBold-bold.fntdata"/><Relationship Id="rId32" Type="http://schemas.openxmlformats.org/officeDocument/2006/relationships/slide" Target="slides/slide27.xml"/><Relationship Id="rId35" Type="http://schemas.openxmlformats.org/officeDocument/2006/relationships/font" Target="fonts/Poppins-regular.fntdata"/><Relationship Id="rId34" Type="http://schemas.openxmlformats.org/officeDocument/2006/relationships/font" Target="fonts/PlusJakartaSansExtraBold-boldItalic.fntdata"/><Relationship Id="rId37" Type="http://schemas.openxmlformats.org/officeDocument/2006/relationships/font" Target="fonts/Poppins-italic.fntdata"/><Relationship Id="rId36" Type="http://schemas.openxmlformats.org/officeDocument/2006/relationships/font" Target="fonts/Poppins-bold.fntdata"/><Relationship Id="rId39" Type="http://schemas.openxmlformats.org/officeDocument/2006/relationships/font" Target="fonts/Geist-regular.fntdata"/><Relationship Id="rId38" Type="http://schemas.openxmlformats.org/officeDocument/2006/relationships/font" Target="fonts/Poppi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SemiBold-regular.fntdata"/><Relationship Id="rId50" Type="http://schemas.openxmlformats.org/officeDocument/2006/relationships/font" Target="fonts/Lato-boldItalic.fntdata"/><Relationship Id="rId53" Type="http://schemas.openxmlformats.org/officeDocument/2006/relationships/font" Target="fonts/PoppinsSemiBold-italic.fntdata"/><Relationship Id="rId52" Type="http://schemas.openxmlformats.org/officeDocument/2006/relationships/font" Target="fonts/Poppins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6f005ac91_0_7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c6f005ac91_0_7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6f005ac91_0_7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6f005ac91_0_8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c6f005ac91_0_8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c6f005ac91_0_8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2dacb8e58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92dacb8e58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2dacb8e58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2dacb8e58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92dacb8e58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2dacb8e58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6f005ac91_0_9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c6f005ac91_0_9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6f005ac91_0_9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2dacb8e58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92dacb8e58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92dacb8e58_0_1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986e6ecc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b986e6ecc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b986e6ecc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986e6ecc1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g3b986e6ecc1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b986e6ecc1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6f005ac91_0_9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c6f005ac91_0_9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c6f005ac91_0_9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432f5983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c432f5983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c432f5983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432f5983b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c432f5983b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 de personnalité : </a:t>
            </a:r>
            <a:br>
              <a:rPr lang="en-US"/>
            </a:br>
            <a:r>
              <a:rPr lang="en-US"/>
              <a:t>Il faut déterminer 2 cas d’usage en Flatchr Skill. </a:t>
            </a:r>
            <a:br>
              <a:rPr lang="en-US"/>
            </a:br>
            <a:r>
              <a:rPr lang="en-US"/>
              <a:t>Si besoin d’un onboarding, on les redirige vers AF ou Trimoji.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Gestion des talents : a voir avec les équipes si ca vaut le coup/</a:t>
            </a:r>
            <a:br>
              <a:rPr lang="en-US"/>
            </a:br>
            <a:br>
              <a:rPr lang="en-US"/>
            </a:br>
            <a:r>
              <a:rPr lang="en-US"/>
              <a:t>Onboarding : je dej avec Léon pour en savoir</a:t>
            </a:r>
            <a:endParaRPr/>
          </a:p>
        </p:txBody>
      </p:sp>
      <p:sp>
        <p:nvSpPr>
          <p:cNvPr id="470" name="Google Shape;470;g3c432f5983b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6f005ac91_0_9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c6f005ac91_0_9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c6f005ac91_0_9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92dacb8e58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g392dacb8e58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392dacb8e58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73a8892a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c73a8892a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g3c73a8892ac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92dacb8e58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92dacb8e58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92dacb8e58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92dacb8e5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92dacb8e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92dacb8e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92dacb8e58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92dacb8e58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92dacb8e58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92dacb8e58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92dacb8e58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g392dacb8e58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bf7f293df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bf7f293df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bf7f293df7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ctrTitle"/>
          </p:nvPr>
        </p:nvSpPr>
        <p:spPr>
          <a:xfrm>
            <a:off x="3229984" y="902956"/>
            <a:ext cx="91761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97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oppins Black"/>
              <a:buChar char="●"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1109960" y="7627620"/>
            <a:ext cx="3291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54850" lIns="109725" spcFirstLastPara="1" rIns="109725" wrap="square" tIns="548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3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28.png"/><Relationship Id="rId6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34.jpg"/><Relationship Id="rId15" Type="http://schemas.openxmlformats.org/officeDocument/2006/relationships/image" Target="../media/image40.png"/><Relationship Id="rId14" Type="http://schemas.openxmlformats.org/officeDocument/2006/relationships/image" Target="../media/image43.png"/><Relationship Id="rId5" Type="http://schemas.openxmlformats.org/officeDocument/2006/relationships/image" Target="../media/image14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Relationship Id="rId8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jp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jpg"/><Relationship Id="rId4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4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5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793790" y="3060144"/>
            <a:ext cx="7556421" cy="1474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Pricing &amp; Packaging 2026 — V1</a:t>
            </a:r>
            <a:endParaRPr b="0" i="0" sz="4450" u="none" cap="none" strike="noStrike"/>
          </a:p>
        </p:txBody>
      </p:sp>
      <p:sp>
        <p:nvSpPr>
          <p:cNvPr id="61" name="Google Shape;61;p14"/>
          <p:cNvSpPr/>
          <p:nvPr/>
        </p:nvSpPr>
        <p:spPr>
          <a:xfrm>
            <a:off x="793790" y="4874538"/>
            <a:ext cx="75564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Résultats des ateliers inter-équipes et consolidation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710185" y="408208"/>
            <a:ext cx="1175700" cy="371700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842953" y="491012"/>
            <a:ext cx="9036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CONTEXTE</a:t>
            </a:r>
            <a:endParaRPr b="0" i="0" sz="1400" u="none" cap="none" strike="noStrike"/>
          </a:p>
        </p:txBody>
      </p:sp>
      <p:sp>
        <p:nvSpPr>
          <p:cNvPr id="69" name="Google Shape;69;p15"/>
          <p:cNvSpPr/>
          <p:nvPr/>
        </p:nvSpPr>
        <p:spPr>
          <a:xfrm>
            <a:off x="706865" y="885586"/>
            <a:ext cx="83613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Pourquoi ce travail a été mené</a:t>
            </a:r>
            <a:endParaRPr b="0" i="0" sz="4450" u="none" cap="none" strike="noStrike"/>
          </a:p>
        </p:txBody>
      </p:sp>
      <p:grpSp>
        <p:nvGrpSpPr>
          <p:cNvPr id="70" name="Google Shape;70;p15"/>
          <p:cNvGrpSpPr/>
          <p:nvPr/>
        </p:nvGrpSpPr>
        <p:grpSpPr>
          <a:xfrm>
            <a:off x="717504" y="2143051"/>
            <a:ext cx="6438481" cy="1608900"/>
            <a:chOff x="717505" y="2143051"/>
            <a:chExt cx="6438481" cy="1608900"/>
          </a:xfrm>
        </p:grpSpPr>
        <p:sp>
          <p:nvSpPr>
            <p:cNvPr id="71" name="Google Shape;71;p15"/>
            <p:cNvSpPr/>
            <p:nvPr/>
          </p:nvSpPr>
          <p:spPr>
            <a:xfrm>
              <a:off x="747985" y="2143050"/>
              <a:ext cx="6408000" cy="1608900"/>
            </a:xfrm>
            <a:prstGeom prst="roundRect">
              <a:avLst>
                <a:gd fmla="val 9094" name="adj"/>
              </a:avLst>
            </a:prstGeom>
            <a:solidFill>
              <a:srgbClr val="101620">
                <a:alpha val="94901"/>
              </a:srgbClr>
            </a:solidFill>
            <a:ln cap="flat" cmpd="sng" w="30475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2" name="Google Shape;7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7505" y="2143050"/>
              <a:ext cx="121920" cy="1608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5"/>
            <p:cNvSpPr/>
            <p:nvPr/>
          </p:nvSpPr>
          <p:spPr>
            <a:xfrm>
              <a:off x="1096720" y="2400345"/>
              <a:ext cx="51537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i="0" lang="en-US" sz="220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Réduire les exceptions commerciales</a:t>
              </a:r>
              <a:endParaRPr b="0" i="0" sz="2200" u="none" cap="none" strike="noStrike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096719" y="2904931"/>
              <a:ext cx="58020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b="0" i="0" lang="en-US" sz="175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Trop d'adaptations au cas par cas créent de la complexité et ralentissent les cycles de vente.</a:t>
              </a:r>
              <a:endParaRPr b="0" i="0" sz="1750" u="none" cap="none" strike="noStrike"/>
            </a:p>
          </p:txBody>
        </p:sp>
      </p:grpSp>
      <p:grpSp>
        <p:nvGrpSpPr>
          <p:cNvPr id="75" name="Google Shape;75;p15"/>
          <p:cNvGrpSpPr/>
          <p:nvPr/>
        </p:nvGrpSpPr>
        <p:grpSpPr>
          <a:xfrm>
            <a:off x="702285" y="4015025"/>
            <a:ext cx="6438480" cy="1608900"/>
            <a:chOff x="702285" y="4015025"/>
            <a:chExt cx="6438480" cy="1608900"/>
          </a:xfrm>
        </p:grpSpPr>
        <p:sp>
          <p:nvSpPr>
            <p:cNvPr id="76" name="Google Shape;76;p15"/>
            <p:cNvSpPr/>
            <p:nvPr/>
          </p:nvSpPr>
          <p:spPr>
            <a:xfrm>
              <a:off x="732765" y="4015025"/>
              <a:ext cx="6408000" cy="1608900"/>
            </a:xfrm>
            <a:prstGeom prst="roundRect">
              <a:avLst>
                <a:gd fmla="val 9094" name="adj"/>
              </a:avLst>
            </a:prstGeom>
            <a:solidFill>
              <a:srgbClr val="101620">
                <a:alpha val="94901"/>
              </a:srgbClr>
            </a:solidFill>
            <a:ln cap="flat" cmpd="sng" w="30475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77" name="Google Shape;7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2285" y="4015025"/>
              <a:ext cx="121920" cy="1608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15"/>
            <p:cNvSpPr/>
            <p:nvPr/>
          </p:nvSpPr>
          <p:spPr>
            <a:xfrm>
              <a:off x="1081499" y="4272319"/>
              <a:ext cx="28353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i="0" lang="en-US" sz="220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Structurer l'upsell</a:t>
              </a:r>
              <a:endParaRPr b="0" i="0" sz="2200" u="none" cap="none" strike="noStrike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081499" y="4776906"/>
              <a:ext cx="58020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b="0" i="0" lang="en-US" sz="175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Besoin de créer des trajectoires d'évolution claires pour augmenter la valeur client dans le temps.</a:t>
              </a:r>
              <a:endParaRPr b="0" i="0" sz="1750" u="none" cap="none" strike="noStrike"/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702267" y="5874200"/>
            <a:ext cx="6438481" cy="1608900"/>
            <a:chOff x="702267" y="5874200"/>
            <a:chExt cx="6438481" cy="1608900"/>
          </a:xfrm>
        </p:grpSpPr>
        <p:sp>
          <p:nvSpPr>
            <p:cNvPr id="81" name="Google Shape;81;p15"/>
            <p:cNvSpPr/>
            <p:nvPr/>
          </p:nvSpPr>
          <p:spPr>
            <a:xfrm>
              <a:off x="732748" y="5874200"/>
              <a:ext cx="6408000" cy="1608900"/>
            </a:xfrm>
            <a:prstGeom prst="roundRect">
              <a:avLst>
                <a:gd fmla="val 9094" name="adj"/>
              </a:avLst>
            </a:prstGeom>
            <a:solidFill>
              <a:srgbClr val="101620">
                <a:alpha val="94901"/>
              </a:srgbClr>
            </a:solidFill>
            <a:ln cap="flat" cmpd="sng" w="30475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82" name="Google Shape;8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2267" y="5874200"/>
              <a:ext cx="121920" cy="1608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5"/>
            <p:cNvSpPr/>
            <p:nvPr/>
          </p:nvSpPr>
          <p:spPr>
            <a:xfrm>
              <a:off x="1081482" y="6131494"/>
              <a:ext cx="41586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i="0" lang="en-US" sz="220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Aligner Product, Sales et CSM</a:t>
              </a:r>
              <a:endParaRPr b="0" i="0" sz="2200" u="none" cap="none" strike="noStrike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081482" y="6636081"/>
              <a:ext cx="58020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b="0" i="0" lang="en-US" sz="175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Chaque équipe doit partager la même compréhension de l'offre et de ses leviers de valeur.</a:t>
              </a:r>
              <a:endParaRPr b="0" i="0" sz="1750" u="none" cap="none" strike="noStrike"/>
            </a:p>
          </p:txBody>
        </p:sp>
      </p:grpSp>
      <p:pic>
        <p:nvPicPr>
          <p:cNvPr id="85" name="Google Shape;85;p15" title="Capture d’écran 2026-01-29 à 15.00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7800" y="2405539"/>
            <a:ext cx="6438501" cy="482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710185" y="408208"/>
            <a:ext cx="1175700" cy="371700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842953" y="491012"/>
            <a:ext cx="9036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lang="en-US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METHODE</a:t>
            </a:r>
            <a:endParaRPr b="0" i="0" sz="140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706865" y="885586"/>
            <a:ext cx="83613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rPr b="1" lang="en-US" sz="3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Démarche suivi</a:t>
            </a:r>
            <a:endParaRPr b="1" sz="4450">
              <a:solidFill>
                <a:srgbClr val="F2F5FA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603040" y="3483860"/>
            <a:ext cx="4154400" cy="2626500"/>
          </a:xfrm>
          <a:prstGeom prst="rect">
            <a:avLst/>
          </a:prstGeom>
          <a:noFill/>
          <a:ln cap="flat" cmpd="sng" w="152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799435" y="3483880"/>
            <a:ext cx="3133500" cy="2626500"/>
          </a:xfrm>
          <a:prstGeom prst="rect">
            <a:avLst/>
          </a:prstGeom>
          <a:noFill/>
          <a:ln cap="flat" cmpd="sng" w="152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7974880" y="3461920"/>
            <a:ext cx="2841000" cy="2626500"/>
          </a:xfrm>
          <a:prstGeom prst="rect">
            <a:avLst/>
          </a:prstGeom>
          <a:noFill/>
          <a:ln cap="flat" cmpd="sng" w="152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>
            <a:off x="6283964" y="4467665"/>
            <a:ext cx="147840" cy="658920"/>
            <a:chOff x="852428" y="2563700"/>
            <a:chExt cx="92400" cy="411825"/>
          </a:xfrm>
        </p:grpSpPr>
        <p:cxnSp>
          <p:nvCxnSpPr>
            <p:cNvPr id="99" name="Google Shape;99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" name="Google Shape;100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5153044" y="4467685"/>
            <a:ext cx="147840" cy="658920"/>
            <a:chOff x="852428" y="2563700"/>
            <a:chExt cx="92400" cy="411825"/>
          </a:xfrm>
        </p:grpSpPr>
        <p:cxnSp>
          <p:nvCxnSpPr>
            <p:cNvPr id="102" name="Google Shape;102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3" name="Google Shape;103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6"/>
          <p:cNvGrpSpPr/>
          <p:nvPr/>
        </p:nvGrpSpPr>
        <p:grpSpPr>
          <a:xfrm>
            <a:off x="4110764" y="4467685"/>
            <a:ext cx="147840" cy="658920"/>
            <a:chOff x="852428" y="2563700"/>
            <a:chExt cx="92400" cy="411825"/>
          </a:xfrm>
        </p:grpSpPr>
        <p:cxnSp>
          <p:nvCxnSpPr>
            <p:cNvPr id="105" name="Google Shape;105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" name="Google Shape;106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6"/>
          <p:cNvSpPr/>
          <p:nvPr/>
        </p:nvSpPr>
        <p:spPr>
          <a:xfrm>
            <a:off x="7738163" y="4938562"/>
            <a:ext cx="3133500" cy="213600"/>
          </a:xfrm>
          <a:prstGeom prst="rect">
            <a:avLst/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11052450" y="3483850"/>
            <a:ext cx="3491100" cy="15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Déploiement Progressif</a:t>
            </a:r>
            <a:br>
              <a:rPr b="1" lang="en-US" sz="1800" u="sng">
                <a:solidFill>
                  <a:srgbClr val="2B43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lang="en-US" sz="1800">
                <a:solidFill>
                  <a:schemeClr val="accent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=&gt; 16 février 2026</a:t>
            </a:r>
            <a:endParaRPr b="1" sz="1800">
              <a:solidFill>
                <a:schemeClr val="accent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B435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B435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09" name="Google Shape;109;p16"/>
          <p:cNvGrpSpPr/>
          <p:nvPr/>
        </p:nvGrpSpPr>
        <p:grpSpPr>
          <a:xfrm>
            <a:off x="684682" y="3764880"/>
            <a:ext cx="3836925" cy="1990280"/>
            <a:chOff x="440876" y="2345924"/>
            <a:chExt cx="2398078" cy="1243925"/>
          </a:xfrm>
        </p:grpSpPr>
        <p:sp>
          <p:nvSpPr>
            <p:cNvPr id="110" name="Google Shape;110;p16"/>
            <p:cNvSpPr txBox="1"/>
            <p:nvPr/>
          </p:nvSpPr>
          <p:spPr>
            <a:xfrm>
              <a:off x="440876" y="3218449"/>
              <a:ext cx="9864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6275" lIns="146275" spcFirstLastPara="1" rIns="146275" wrap="square" tIns="14627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Décembre </a:t>
              </a:r>
              <a:endParaRPr b="1" sz="1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2025</a:t>
              </a:r>
              <a:endParaRPr b="1" sz="1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11" name="Google Shape;111;p16"/>
            <p:cNvGrpSpPr/>
            <p:nvPr/>
          </p:nvGrpSpPr>
          <p:grpSpPr>
            <a:xfrm>
              <a:off x="887878" y="2800065"/>
              <a:ext cx="92400" cy="411825"/>
              <a:chOff x="852428" y="2563700"/>
              <a:chExt cx="92400" cy="411825"/>
            </a:xfrm>
          </p:grpSpPr>
          <p:cxnSp>
            <p:nvCxnSpPr>
              <p:cNvPr id="112" name="Google Shape;112;p16"/>
              <p:cNvCxnSpPr/>
              <p:nvPr/>
            </p:nvCxnSpPr>
            <p:spPr>
              <a:xfrm>
                <a:off x="898628" y="2616125"/>
                <a:ext cx="0" cy="35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B435E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13" name="Google Shape;113;p16"/>
              <p:cNvSpPr/>
              <p:nvPr/>
            </p:nvSpPr>
            <p:spPr>
              <a:xfrm>
                <a:off x="852428" y="2563700"/>
                <a:ext cx="92400" cy="92400"/>
              </a:xfrm>
              <a:prstGeom prst="ellipse">
                <a:avLst/>
              </a:prstGeom>
              <a:solidFill>
                <a:srgbClr val="2B435E"/>
              </a:solidFill>
              <a:ln>
                <a:noFill/>
              </a:ln>
            </p:spPr>
            <p:txBody>
              <a:bodyPr anchorCtr="0" anchor="ctr" bIns="146275" lIns="146275" spcFirstLastPara="1" rIns="146275" wrap="square" tIns="1462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4" name="Google Shape;114;p16"/>
            <p:cNvSpPr txBox="1"/>
            <p:nvPr/>
          </p:nvSpPr>
          <p:spPr>
            <a:xfrm>
              <a:off x="585354" y="2345924"/>
              <a:ext cx="2253600" cy="2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Atelier </a:t>
              </a:r>
              <a:br>
                <a:rPr lang="en-US" sz="18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r>
                <a:rPr lang="en-US" sz="1800">
                  <a:solidFill>
                    <a:schemeClr val="lt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Pricing</a:t>
              </a:r>
              <a:endParaRPr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15" name="Google Shape;115;p16"/>
          <p:cNvGrpSpPr/>
          <p:nvPr/>
        </p:nvGrpSpPr>
        <p:grpSpPr>
          <a:xfrm rot="10800000">
            <a:off x="10793927" y="4938430"/>
            <a:ext cx="147840" cy="1390560"/>
            <a:chOff x="2091591" y="2106500"/>
            <a:chExt cx="92400" cy="869100"/>
          </a:xfrm>
        </p:grpSpPr>
        <p:cxnSp>
          <p:nvCxnSpPr>
            <p:cNvPr id="116" name="Google Shape;116;p16"/>
            <p:cNvCxnSpPr/>
            <p:nvPr/>
          </p:nvCxnSpPr>
          <p:spPr>
            <a:xfrm>
              <a:off x="2137791" y="2198900"/>
              <a:ext cx="0" cy="776700"/>
            </a:xfrm>
            <a:prstGeom prst="straightConnector1">
              <a:avLst/>
            </a:prstGeom>
            <a:noFill/>
            <a:ln cap="flat" cmpd="sng" w="9525">
              <a:solidFill>
                <a:srgbClr val="01AEC8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16"/>
            <p:cNvSpPr/>
            <p:nvPr/>
          </p:nvSpPr>
          <p:spPr>
            <a:xfrm>
              <a:off x="2091591" y="2106500"/>
              <a:ext cx="92400" cy="92400"/>
            </a:xfrm>
            <a:prstGeom prst="ellipse">
              <a:avLst/>
            </a:prstGeom>
            <a:solidFill>
              <a:srgbClr val="01AEC8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" name="Google Shape;118;p16"/>
          <p:cNvSpPr/>
          <p:nvPr/>
        </p:nvSpPr>
        <p:spPr>
          <a:xfrm>
            <a:off x="4604804" y="4938562"/>
            <a:ext cx="3133500" cy="213600"/>
          </a:xfrm>
          <a:prstGeom prst="rect">
            <a:avLst/>
          </a:prstGeom>
          <a:solidFill>
            <a:srgbClr val="01AEC8">
              <a:alpha val="60000"/>
            </a:srgbClr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1065300" y="4445725"/>
            <a:ext cx="33924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1AE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Analyse des retours terrain</a:t>
            </a:r>
            <a:endParaRPr b="1" sz="1600">
              <a:solidFill>
                <a:srgbClr val="2B435E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Tests contrôlés</a:t>
            </a:r>
            <a:endParaRPr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Fin des ventes Poséidon</a:t>
            </a:r>
            <a:endParaRPr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Transfert progressif des clients</a:t>
            </a:r>
            <a:br>
              <a:rPr lang="en-US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MEP Feature Flag</a:t>
            </a:r>
            <a:endParaRPr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2508604" y="4467685"/>
            <a:ext cx="147840" cy="658920"/>
            <a:chOff x="852428" y="2563700"/>
            <a:chExt cx="92400" cy="411825"/>
          </a:xfrm>
        </p:grpSpPr>
        <p:cxnSp>
          <p:nvCxnSpPr>
            <p:cNvPr id="121" name="Google Shape;121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6"/>
          <p:cNvSpPr txBox="1"/>
          <p:nvPr/>
        </p:nvSpPr>
        <p:spPr>
          <a:xfrm>
            <a:off x="2031440" y="3764880"/>
            <a:ext cx="11985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Atelier</a:t>
            </a:r>
            <a:b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Produit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2883960" y="3764880"/>
            <a:ext cx="1064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Atelier</a:t>
            </a:r>
            <a:b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456600" y="3764860"/>
            <a:ext cx="1925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V.0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Manager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047800" y="5160900"/>
            <a:ext cx="262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Février</a:t>
            </a:r>
            <a:endParaRPr b="1" sz="19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1" sz="19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27" name="Google Shape;127;p16"/>
          <p:cNvGrpSpPr/>
          <p:nvPr/>
        </p:nvGrpSpPr>
        <p:grpSpPr>
          <a:xfrm>
            <a:off x="9804624" y="4445725"/>
            <a:ext cx="147840" cy="658920"/>
            <a:chOff x="852428" y="2563700"/>
            <a:chExt cx="92400" cy="411825"/>
          </a:xfrm>
        </p:grpSpPr>
        <p:cxnSp>
          <p:nvCxnSpPr>
            <p:cNvPr id="128" name="Google Shape;128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6"/>
          <p:cNvSpPr txBox="1"/>
          <p:nvPr/>
        </p:nvSpPr>
        <p:spPr>
          <a:xfrm>
            <a:off x="8890340" y="3764860"/>
            <a:ext cx="1925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Etude d’impact CA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31" name="Google Shape;131;p16"/>
          <p:cNvGrpSpPr/>
          <p:nvPr/>
        </p:nvGrpSpPr>
        <p:grpSpPr>
          <a:xfrm>
            <a:off x="3229984" y="4467685"/>
            <a:ext cx="147840" cy="658920"/>
            <a:chOff x="852428" y="2563700"/>
            <a:chExt cx="92400" cy="411825"/>
          </a:xfrm>
        </p:grpSpPr>
        <p:cxnSp>
          <p:nvCxnSpPr>
            <p:cNvPr id="132" name="Google Shape;132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3" name="Google Shape;133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6"/>
          <p:cNvSpPr/>
          <p:nvPr/>
        </p:nvSpPr>
        <p:spPr>
          <a:xfrm>
            <a:off x="1471440" y="4938562"/>
            <a:ext cx="3133500" cy="213600"/>
          </a:xfrm>
          <a:prstGeom prst="rect">
            <a:avLst/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2230840" y="5160920"/>
            <a:ext cx="6150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Janvier </a:t>
            </a:r>
            <a:endParaRPr b="1" sz="19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1" sz="19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3755820" y="3764880"/>
            <a:ext cx="1064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Atelier</a:t>
            </a:r>
            <a:b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Vente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4451512" y="3764880"/>
            <a:ext cx="15510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V.0</a:t>
            </a:r>
            <a:b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Equipe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38" name="Google Shape;138;p16"/>
          <p:cNvGrpSpPr/>
          <p:nvPr/>
        </p:nvGrpSpPr>
        <p:grpSpPr>
          <a:xfrm>
            <a:off x="8435784" y="4467665"/>
            <a:ext cx="147840" cy="658920"/>
            <a:chOff x="852428" y="2563700"/>
            <a:chExt cx="92400" cy="411825"/>
          </a:xfrm>
        </p:grpSpPr>
        <p:cxnSp>
          <p:nvCxnSpPr>
            <p:cNvPr id="139" name="Google Shape;139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" name="Google Shape;140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" name="Google Shape;141;p16"/>
          <p:cNvSpPr txBox="1"/>
          <p:nvPr/>
        </p:nvSpPr>
        <p:spPr>
          <a:xfrm>
            <a:off x="7608420" y="3764860"/>
            <a:ext cx="1925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Plaquette AE/CSM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42" name="Google Shape;142;p16"/>
          <p:cNvGrpSpPr/>
          <p:nvPr/>
        </p:nvGrpSpPr>
        <p:grpSpPr>
          <a:xfrm>
            <a:off x="7417264" y="4467665"/>
            <a:ext cx="147840" cy="658920"/>
            <a:chOff x="852428" y="2563700"/>
            <a:chExt cx="92400" cy="411825"/>
          </a:xfrm>
        </p:grpSpPr>
        <p:cxnSp>
          <p:nvCxnSpPr>
            <p:cNvPr id="143" name="Google Shape;143;p16"/>
            <p:cNvCxnSpPr/>
            <p:nvPr/>
          </p:nvCxnSpPr>
          <p:spPr>
            <a:xfrm>
              <a:off x="898628" y="2616125"/>
              <a:ext cx="0" cy="359400"/>
            </a:xfrm>
            <a:prstGeom prst="straightConnector1">
              <a:avLst/>
            </a:prstGeom>
            <a:noFill/>
            <a:ln cap="flat" cmpd="sng" w="9525">
              <a:solidFill>
                <a:srgbClr val="2B43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4" name="Google Shape;144;p16"/>
            <p:cNvSpPr/>
            <p:nvPr/>
          </p:nvSpPr>
          <p:spPr>
            <a:xfrm>
              <a:off x="852428" y="2563700"/>
              <a:ext cx="92400" cy="92400"/>
            </a:xfrm>
            <a:prstGeom prst="ellipse">
              <a:avLst/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146275" lIns="146275" spcFirstLastPara="1" rIns="146275" wrap="square" tIns="146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16"/>
          <p:cNvSpPr txBox="1"/>
          <p:nvPr/>
        </p:nvSpPr>
        <p:spPr>
          <a:xfrm>
            <a:off x="6589900" y="3764860"/>
            <a:ext cx="19257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Atelier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Négo.</a:t>
            </a:r>
            <a:endParaRPr sz="18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1603360" y="2802830"/>
            <a:ext cx="2153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Construction</a:t>
            </a:r>
            <a:endParaRPr b="1" sz="2200" u="sng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5094640" y="2802830"/>
            <a:ext cx="2153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Validation</a:t>
            </a:r>
            <a:endParaRPr b="1" sz="2200" u="sng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8157840" y="2802830"/>
            <a:ext cx="2153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sng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Finalisation</a:t>
            </a:r>
            <a:endParaRPr b="1" sz="2200" u="sng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9" name="Google Shape;149;p16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/>
          <p:nvPr/>
        </p:nvSpPr>
        <p:spPr>
          <a:xfrm>
            <a:off x="706875" y="885575"/>
            <a:ext cx="12144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oppins Black"/>
              <a:buNone/>
            </a:pPr>
            <a:r>
              <a:rPr lang="en-US" sz="42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Une offre adaptée à chaque organisation !</a:t>
            </a:r>
            <a:endParaRPr sz="42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id="156" name="Google Shape;156;p17" title="tentacule orange foncé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1999253">
            <a:off x="353119" y="6785129"/>
            <a:ext cx="2580761" cy="14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/>
          <p:nvPr/>
        </p:nvSpPr>
        <p:spPr>
          <a:xfrm>
            <a:off x="2423150" y="2212125"/>
            <a:ext cx="4679700" cy="96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Socle </a:t>
            </a:r>
            <a:r>
              <a:rPr lang="en-US" sz="2200" u="sng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fonctionnel</a:t>
            </a:r>
            <a:endParaRPr sz="2200" u="sng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2423153" y="3379950"/>
            <a:ext cx="10789800" cy="99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Packs Stratégiques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8366950" y="2182400"/>
            <a:ext cx="48459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à l’usage</a:t>
            </a:r>
            <a:endParaRPr b="1" sz="2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2481050" y="5498050"/>
            <a:ext cx="106740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Catalogue Produits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(Imports, Atelier de formation, SIRH, Tests de personnalité, Sourcing, Data,  …)</a:t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61" name="Google Shape;161;p17"/>
          <p:cNvGrpSpPr/>
          <p:nvPr/>
        </p:nvGrpSpPr>
        <p:grpSpPr>
          <a:xfrm rot="4772078">
            <a:off x="2094102" y="5974394"/>
            <a:ext cx="217666" cy="299985"/>
            <a:chOff x="5868361" y="967732"/>
            <a:chExt cx="95224" cy="131237"/>
          </a:xfrm>
        </p:grpSpPr>
        <p:sp>
          <p:nvSpPr>
            <p:cNvPr id="162" name="Google Shape;162;p17"/>
            <p:cNvSpPr/>
            <p:nvPr/>
          </p:nvSpPr>
          <p:spPr>
            <a:xfrm flipH="1" rot="-9879227">
              <a:off x="5868686" y="978430"/>
              <a:ext cx="82751" cy="13104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 flipH="1" rot="10762635">
              <a:off x="5868635" y="1029142"/>
              <a:ext cx="82805" cy="13200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 flipH="1" rot="10096954">
              <a:off x="5880523" y="1077559"/>
              <a:ext cx="82724" cy="13121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65" name="Google Shape;165;p17"/>
          <p:cNvSpPr txBox="1"/>
          <p:nvPr/>
        </p:nvSpPr>
        <p:spPr>
          <a:xfrm>
            <a:off x="7460551" y="2305125"/>
            <a:ext cx="5487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7439305" y="4546993"/>
            <a:ext cx="607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17" title="Kakemono Vie professionnelle en Orange pastel Corail Style Simple et Mininaliste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1261" y="-774960"/>
            <a:ext cx="3499992" cy="822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title="Capture d’écran 2026-01-29 à 15.0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9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/>
          <p:nvPr/>
        </p:nvSpPr>
        <p:spPr>
          <a:xfrm>
            <a:off x="793790" y="4079558"/>
            <a:ext cx="5670590" cy="737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Le socle </a:t>
            </a: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fonctionnel</a:t>
            </a:r>
            <a:endParaRPr b="0" i="0" sz="4450" u="none" cap="none" strike="noStrike"/>
          </a:p>
        </p:txBody>
      </p:sp>
      <p:sp>
        <p:nvSpPr>
          <p:cNvPr id="176" name="Google Shape;176;p18"/>
          <p:cNvSpPr/>
          <p:nvPr/>
        </p:nvSpPr>
        <p:spPr>
          <a:xfrm>
            <a:off x="793790" y="515683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530906" y="5227677"/>
            <a:ext cx="3421499" cy="736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Identique pour tous les clients</a:t>
            </a:r>
            <a:endParaRPr b="0" i="0" sz="2200" u="none" cap="none" strike="noStrike"/>
          </a:p>
        </p:txBody>
      </p:sp>
      <p:sp>
        <p:nvSpPr>
          <p:cNvPr id="178" name="Google Shape;178;p18"/>
          <p:cNvSpPr/>
          <p:nvPr/>
        </p:nvSpPr>
        <p:spPr>
          <a:xfrm>
            <a:off x="1530906" y="6100763"/>
            <a:ext cx="342149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Tous les clients disposent du même socle de base, quels que soient leur pack ou leur secteur.</a:t>
            </a:r>
            <a:endParaRPr b="0" i="0" sz="1750" u="none" cap="none" strike="noStrike"/>
          </a:p>
        </p:txBody>
      </p:sp>
      <p:sp>
        <p:nvSpPr>
          <p:cNvPr id="179" name="Google Shape;179;p18"/>
          <p:cNvSpPr/>
          <p:nvPr/>
        </p:nvSpPr>
        <p:spPr>
          <a:xfrm>
            <a:off x="5235893" y="515683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973008" y="5227677"/>
            <a:ext cx="2835235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Non négociable</a:t>
            </a:r>
            <a:endParaRPr b="0" i="0" sz="2200" u="none" cap="none" strike="noStrike"/>
          </a:p>
        </p:txBody>
      </p:sp>
      <p:sp>
        <p:nvSpPr>
          <p:cNvPr id="181" name="Google Shape;181;p18"/>
          <p:cNvSpPr/>
          <p:nvPr/>
        </p:nvSpPr>
        <p:spPr>
          <a:xfrm>
            <a:off x="5973008" y="5732264"/>
            <a:ext cx="342149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Le contenu du socle ne peut pas être modifié ou réduit lors des négociations commerciales.</a:t>
            </a:r>
            <a:endParaRPr b="0" i="0" sz="1750" u="none" cap="none" strike="noStrike"/>
          </a:p>
        </p:txBody>
      </p:sp>
      <p:sp>
        <p:nvSpPr>
          <p:cNvPr id="182" name="Google Shape;182;p18"/>
          <p:cNvSpPr/>
          <p:nvPr/>
        </p:nvSpPr>
        <p:spPr>
          <a:xfrm>
            <a:off x="9677995" y="5156835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10415111" y="5227677"/>
            <a:ext cx="2835235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Garantie de stabilité</a:t>
            </a:r>
            <a:endParaRPr b="0" i="0" sz="2200" u="none" cap="none" strike="noStrike"/>
          </a:p>
        </p:txBody>
      </p:sp>
      <p:sp>
        <p:nvSpPr>
          <p:cNvPr id="184" name="Google Shape;184;p18"/>
          <p:cNvSpPr/>
          <p:nvPr/>
        </p:nvSpPr>
        <p:spPr>
          <a:xfrm>
            <a:off x="10415111" y="5732264"/>
            <a:ext cx="342149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Assure une expérience cohérente et prévisible pour l'ensemble des utilisateurs.</a:t>
            </a:r>
            <a:endParaRPr b="0" i="0" sz="1750" u="none" cap="none" strike="noStrike"/>
          </a:p>
        </p:txBody>
      </p:sp>
      <p:pic>
        <p:nvPicPr>
          <p:cNvPr id="185" name="Google Shape;185;p18" title="Capture d’écran 2026-01-29 à 15.00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466940" y="1061785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1204048" y="1132625"/>
            <a:ext cx="48252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Typologie 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de compte 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simplifié</a:t>
            </a:r>
            <a:endParaRPr b="0" i="0" sz="2200" u="none" cap="none" strike="noStrike"/>
          </a:p>
        </p:txBody>
      </p:sp>
      <p:sp>
        <p:nvSpPr>
          <p:cNvPr id="193" name="Google Shape;193;p19"/>
          <p:cNvSpPr/>
          <p:nvPr/>
        </p:nvSpPr>
        <p:spPr>
          <a:xfrm>
            <a:off x="1204050" y="1572075"/>
            <a:ext cx="48252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Mensuel = Abonnement self-service (S0)</a:t>
            </a:r>
            <a:b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</a:b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Emplacements au choix (1-100)</a:t>
            </a:r>
            <a:b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</a:b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Annuel = Vente via AE/CSM (S1/S2/S3)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466943" y="3235160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1204048" y="3306000"/>
            <a:ext cx="3706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Un socle complet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1204058" y="3810589"/>
            <a:ext cx="34215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Site carrière premium inclus</a:t>
            </a:r>
            <a:b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</a:b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Gestion des rôles inclus</a:t>
            </a:r>
            <a:b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</a:b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Intégration Prise de RDV inclus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t/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66945" y="5181485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1204061" y="5252327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L’IA intégré de base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1204050" y="5756924"/>
            <a:ext cx="34215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Analyse Flatchr FIT*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Parsing Automatique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Remplissage des tags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t/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id="200" name="Google Shape;200;p19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318625" y="7554175"/>
            <a:ext cx="65055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*</a:t>
            </a:r>
            <a:r>
              <a:rPr lang="en-US">
                <a:solidFill>
                  <a:schemeClr val="lt1"/>
                </a:solidFill>
              </a:rPr>
              <a:t>limite</a:t>
            </a:r>
            <a:r>
              <a:rPr lang="en-US">
                <a:solidFill>
                  <a:schemeClr val="lt1"/>
                </a:solidFill>
              </a:rPr>
              <a:t> de service </a:t>
            </a:r>
            <a:r>
              <a:rPr lang="en-US">
                <a:solidFill>
                  <a:schemeClr val="lt1"/>
                </a:solidFill>
              </a:rPr>
              <a:t>sur le volume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202" name="Google Shape;202;p19"/>
          <p:cNvGraphicFramePr/>
          <p:nvPr/>
        </p:nvGraphicFramePr>
        <p:xfrm>
          <a:off x="6450438" y="11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{844168FE-ED1A-4A1F-941C-45CE7FB4389F}</a:tableStyleId>
              </a:tblPr>
              <a:tblGrid>
                <a:gridCol w="3061325"/>
                <a:gridCol w="2520850"/>
                <a:gridCol w="1986150"/>
              </a:tblGrid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Fonctionnalité</a:t>
                      </a:r>
                      <a:endParaRPr b="1"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Mensuel</a:t>
                      </a:r>
                      <a:endParaRPr b="1"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Annuel</a:t>
                      </a:r>
                      <a:endParaRPr b="1"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Emplacements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 / x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Illimité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Kanban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Tâches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Rôles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Messages Auto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Gestion des offres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Site Carrière Premium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Templates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Multi-diffusion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Tags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Prise de RDV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DAR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Recherche Boolean (via prompt)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Statistiques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solidFill>
                          <a:srgbClr val="00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solidFill>
                          <a:srgbClr val="00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Parsing (tag auto)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Inclus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Flatchr FIT (Analyse IA)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Viviers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SMS (One-Way)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x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MKTP</a:t>
                      </a:r>
                      <a:endParaRPr sz="1200">
                        <a:solidFill>
                          <a:srgbClr val="00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9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Import Manuel</a:t>
                      </a:r>
                      <a:endParaRPr sz="1200">
                        <a:solidFill>
                          <a:srgbClr val="00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980000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Limité</a:t>
                      </a:r>
                      <a:endParaRPr sz="1200">
                        <a:solidFill>
                          <a:srgbClr val="980000"/>
                        </a:solidFill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793805" y="878450"/>
            <a:ext cx="83403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Consommation</a:t>
            </a: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 à l'usage</a:t>
            </a:r>
            <a:endParaRPr b="0" i="0" sz="4450" u="none" cap="none" strike="noStrike"/>
          </a:p>
        </p:txBody>
      </p:sp>
      <p:sp>
        <p:nvSpPr>
          <p:cNvPr id="209" name="Google Shape;209;p20"/>
          <p:cNvSpPr/>
          <p:nvPr/>
        </p:nvSpPr>
        <p:spPr>
          <a:xfrm>
            <a:off x="793790" y="2182535"/>
            <a:ext cx="3402330" cy="442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188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Principe</a:t>
            </a:r>
            <a:endParaRPr b="0" i="0" sz="2650" u="none" cap="none" strike="noStrike"/>
          </a:p>
        </p:txBody>
      </p:sp>
      <p:sp>
        <p:nvSpPr>
          <p:cNvPr id="210" name="Google Shape;210;p20"/>
          <p:cNvSpPr/>
          <p:nvPr/>
        </p:nvSpPr>
        <p:spPr>
          <a:xfrm>
            <a:off x="793790" y="2851666"/>
            <a:ext cx="760428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Certaines fonctionnalités </a:t>
            </a: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avancées </a:t>
            </a: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sont limitées par l'usage. Chaque client reçoit des crédits de base inclus dans son abonnement.</a:t>
            </a:r>
            <a:endParaRPr b="0" i="0" sz="1750" u="none" cap="none" strike="noStrike"/>
          </a:p>
        </p:txBody>
      </p:sp>
      <p:sp>
        <p:nvSpPr>
          <p:cNvPr id="211" name="Google Shape;211;p20"/>
          <p:cNvSpPr/>
          <p:nvPr/>
        </p:nvSpPr>
        <p:spPr>
          <a:xfrm>
            <a:off x="793790" y="3645337"/>
            <a:ext cx="7604284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Lorsque la consommation dépasse le seuil inclus, des crédits supplémentaires sont facturés.</a:t>
            </a:r>
            <a:endParaRPr b="0" i="0" sz="1750" u="none" cap="none" strike="noStrike"/>
          </a:p>
        </p:txBody>
      </p:sp>
      <p:graphicFrame>
        <p:nvGraphicFramePr>
          <p:cNvPr id="212" name="Google Shape;212;p20"/>
          <p:cNvGraphicFramePr/>
          <p:nvPr/>
        </p:nvGraphicFramePr>
        <p:xfrm>
          <a:off x="8916825" y="87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{844168FE-ED1A-4A1F-941C-45CE7FB4389F}</a:tableStyleId>
              </a:tblPr>
              <a:tblGrid>
                <a:gridCol w="1872850"/>
                <a:gridCol w="1422100"/>
                <a:gridCol w="2098825"/>
              </a:tblGrid>
              <a:tr h="93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Socle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Supplémentaire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Emplacement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Mensuel: 1</a:t>
                      </a:r>
                      <a:b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Annuel: illimité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Mensuel: 30 €* </a:t>
                      </a:r>
                      <a:b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Annuel: illimité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Viviers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10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1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0 €*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SMS (One-Way)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500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 1w: 5 000 / 500€ = 0.1€</a:t>
                      </a:r>
                      <a:b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 2w: 5 000 / 1000€ = 0.2€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MKTP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2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1</a:t>
                      </a: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0€*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Import Manuel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1</a:t>
                      </a: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 000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Prix sur demande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Flatchr FIT (Analyse IA)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10 000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>
                          <a:latin typeface="Geist"/>
                          <a:ea typeface="Geist"/>
                          <a:cs typeface="Geist"/>
                          <a:sym typeface="Geist"/>
                        </a:rPr>
                        <a:t>5 000 / 10€</a:t>
                      </a:r>
                      <a:endParaRPr sz="12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13" name="Google Shape;213;p20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/>
          <p:nvPr/>
        </p:nvSpPr>
        <p:spPr>
          <a:xfrm>
            <a:off x="12225052" y="7534076"/>
            <a:ext cx="22362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*prix dégressif</a:t>
            </a:r>
            <a:endParaRPr b="0" i="0" sz="12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493490" y="304808"/>
            <a:ext cx="5670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Un prix compétitif</a:t>
            </a:r>
            <a:endParaRPr b="0" i="0" sz="4450" u="none" cap="none" strike="noStrike"/>
          </a:p>
        </p:txBody>
      </p:sp>
      <p:sp>
        <p:nvSpPr>
          <p:cNvPr id="221" name="Google Shape;221;p21"/>
          <p:cNvSpPr/>
          <p:nvPr/>
        </p:nvSpPr>
        <p:spPr>
          <a:xfrm>
            <a:off x="493490" y="1327985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230606" y="1398827"/>
            <a:ext cx="34215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Diminution des paliers</a:t>
            </a:r>
            <a:endParaRPr b="0" i="0" sz="2200" u="none" cap="none" strike="noStrike"/>
          </a:p>
        </p:txBody>
      </p:sp>
      <p:sp>
        <p:nvSpPr>
          <p:cNvPr id="223" name="Google Shape;223;p21"/>
          <p:cNvSpPr/>
          <p:nvPr/>
        </p:nvSpPr>
        <p:spPr>
          <a:xfrm>
            <a:off x="1230606" y="1838263"/>
            <a:ext cx="34215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Simplification sur les montants</a:t>
            </a:r>
            <a:b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</a:b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Palier par 100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493493" y="3553610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1230601" y="3624450"/>
            <a:ext cx="46761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Prix spécifique cabinet</a:t>
            </a:r>
            <a:endParaRPr b="0" i="0" sz="2200" u="none" cap="none" strike="noStrike"/>
          </a:p>
        </p:txBody>
      </p:sp>
      <p:sp>
        <p:nvSpPr>
          <p:cNvPr id="226" name="Google Shape;226;p21"/>
          <p:cNvSpPr/>
          <p:nvPr/>
        </p:nvSpPr>
        <p:spPr>
          <a:xfrm>
            <a:off x="1230600" y="4129050"/>
            <a:ext cx="48498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Un tarif spécifique aux cabinets en fonction du nombre de collaborateurs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93495" y="5481385"/>
            <a:ext cx="510300" cy="510300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1230597" y="5552225"/>
            <a:ext cx="36858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Prix hors cible S3</a:t>
            </a:r>
            <a:endParaRPr b="0" i="0" sz="2200" u="none" cap="none" strike="noStrike"/>
          </a:p>
        </p:txBody>
      </p:sp>
      <p:sp>
        <p:nvSpPr>
          <p:cNvPr id="229" name="Google Shape;229;p21"/>
          <p:cNvSpPr/>
          <p:nvPr/>
        </p:nvSpPr>
        <p:spPr>
          <a:xfrm>
            <a:off x="1230597" y="6056825"/>
            <a:ext cx="43359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Ces prix ne s’appliquent pas à la cible Réseaux qui bénéficie de contrat encadré avec des prix négociés unique.</a:t>
            </a:r>
            <a:endParaRPr b="0" i="0" sz="1750" u="none" cap="none" strike="noStrike"/>
          </a:p>
        </p:txBody>
      </p:sp>
      <p:pic>
        <p:nvPicPr>
          <p:cNvPr id="230" name="Google Shape;230;p21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21"/>
          <p:cNvGraphicFramePr/>
          <p:nvPr/>
        </p:nvGraphicFramePr>
        <p:xfrm>
          <a:off x="7692350" y="86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{844168FE-ED1A-4A1F-941C-45CE7FB4389F}</a:tableStyleId>
              </a:tblPr>
              <a:tblGrid>
                <a:gridCol w="3106375"/>
                <a:gridCol w="3439250"/>
              </a:tblGrid>
              <a:tr h="591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Nombre d’employés</a:t>
                      </a:r>
                      <a:endParaRPr b="1"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Prix 2026</a:t>
                      </a:r>
                      <a:endParaRPr b="1"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1-50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1)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3 000 €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51-100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1-5)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5 000 €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101-200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5-10)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7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 000 €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20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1-300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11-20)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10 0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00 €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3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01-400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21-50)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13 0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00 €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40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1-600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51-100)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18 000 €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600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-1000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101-200)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25 0</a:t>
                      </a: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00 €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+1000</a:t>
                      </a:r>
                      <a:b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Geist"/>
                          <a:ea typeface="Geist"/>
                          <a:cs typeface="Geist"/>
                          <a:sym typeface="Geist"/>
                        </a:rPr>
                        <a:t>(cabinet: +200)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Geist"/>
                          <a:ea typeface="Geist"/>
                          <a:cs typeface="Geist"/>
                          <a:sym typeface="Geist"/>
                        </a:rPr>
                        <a:t>Sur mesure</a:t>
                      </a:r>
                      <a:endParaRPr sz="1000">
                        <a:latin typeface="Geist"/>
                        <a:ea typeface="Geist"/>
                        <a:cs typeface="Geist"/>
                        <a:sym typeface="Geist"/>
                      </a:endParaRPr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/>
          <p:nvPr/>
        </p:nvSpPr>
        <p:spPr>
          <a:xfrm>
            <a:off x="706875" y="885575"/>
            <a:ext cx="12144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oppins Black"/>
              <a:buNone/>
            </a:pPr>
            <a:r>
              <a:rPr lang="en-US" sz="42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Une offre adaptée à chaque organisation !</a:t>
            </a:r>
            <a:endParaRPr sz="42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id="238" name="Google Shape;238;p22" title="tentacule orange foncé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1999253">
            <a:off x="353119" y="6785129"/>
            <a:ext cx="2580761" cy="14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2423149" y="2212120"/>
            <a:ext cx="4885200" cy="96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Socle </a:t>
            </a:r>
            <a:r>
              <a:rPr lang="en-US" sz="2200" u="sng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fonctionnel</a:t>
            </a:r>
            <a:endParaRPr sz="2200" u="sng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423153" y="3379950"/>
            <a:ext cx="10789800" cy="99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Packs Stratégiques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8366950" y="2182400"/>
            <a:ext cx="48459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à l’usage</a:t>
            </a:r>
            <a:endParaRPr b="1" sz="2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538875" y="6460550"/>
            <a:ext cx="106740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Catalogue Produits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(Imp</a:t>
            </a:r>
            <a:r>
              <a:rPr lang="en-US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orts, Atelier de formation, </a:t>
            </a:r>
            <a:r>
              <a:rPr lang="en-US" sz="14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SIRH, Tests de personnalité, Sourcing, Data,  …)</a:t>
            </a:r>
            <a:endParaRPr sz="14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243" name="Google Shape;243;p22"/>
          <p:cNvGrpSpPr/>
          <p:nvPr/>
        </p:nvGrpSpPr>
        <p:grpSpPr>
          <a:xfrm rot="4772078">
            <a:off x="2094102" y="5974394"/>
            <a:ext cx="217666" cy="299985"/>
            <a:chOff x="5868361" y="967732"/>
            <a:chExt cx="95224" cy="131237"/>
          </a:xfrm>
        </p:grpSpPr>
        <p:sp>
          <p:nvSpPr>
            <p:cNvPr id="244" name="Google Shape;244;p22"/>
            <p:cNvSpPr/>
            <p:nvPr/>
          </p:nvSpPr>
          <p:spPr>
            <a:xfrm flipH="1" rot="-9879227">
              <a:off x="5868686" y="978430"/>
              <a:ext cx="82751" cy="13104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 flipH="1" rot="10762635">
              <a:off x="5868635" y="1029142"/>
              <a:ext cx="82805" cy="13200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 flipH="1" rot="10096954">
              <a:off x="5880523" y="1077559"/>
              <a:ext cx="82724" cy="13121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247" name="Google Shape;247;p22"/>
          <p:cNvSpPr txBox="1"/>
          <p:nvPr/>
        </p:nvSpPr>
        <p:spPr>
          <a:xfrm>
            <a:off x="7551951" y="2256050"/>
            <a:ext cx="532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7514555" y="5735293"/>
            <a:ext cx="607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2538875" y="4705475"/>
            <a:ext cx="33159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Scaling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Accélérez vos recrutements avec l’IA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6098750" y="4719850"/>
            <a:ext cx="34386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Entreprise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Sécurité, conformité et gouvernance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1" name="Google Shape;251;p22" title="Kakemono Vie professionnelle en Orange pastel Corail Style Simple et Mininaliste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1261" y="-774960"/>
            <a:ext cx="3499992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9980525" y="4705475"/>
            <a:ext cx="32325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Multi-entités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Pilotage RH décentralisé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3" name="Google Shape;253;p22"/>
          <p:cNvCxnSpPr>
            <a:stCxn id="240" idx="2"/>
            <a:endCxn id="249" idx="0"/>
          </p:cNvCxnSpPr>
          <p:nvPr/>
        </p:nvCxnSpPr>
        <p:spPr>
          <a:xfrm flipH="1">
            <a:off x="4196753" y="4374150"/>
            <a:ext cx="3621300" cy="3312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2"/>
          <p:cNvCxnSpPr>
            <a:stCxn id="240" idx="2"/>
            <a:endCxn id="252" idx="0"/>
          </p:cNvCxnSpPr>
          <p:nvPr/>
        </p:nvCxnSpPr>
        <p:spPr>
          <a:xfrm>
            <a:off x="7818053" y="4374150"/>
            <a:ext cx="3778800" cy="3312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5" name="Google Shape;255;p22"/>
          <p:cNvCxnSpPr>
            <a:stCxn id="240" idx="2"/>
            <a:endCxn id="250" idx="0"/>
          </p:cNvCxnSpPr>
          <p:nvPr/>
        </p:nvCxnSpPr>
        <p:spPr>
          <a:xfrm>
            <a:off x="7818053" y="4374150"/>
            <a:ext cx="0" cy="3456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6" name="Google Shape;256;p22" title="Capture d’écran 2026-01-29 à 15.0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/>
          <p:nvPr/>
        </p:nvSpPr>
        <p:spPr>
          <a:xfrm>
            <a:off x="793790" y="712827"/>
            <a:ext cx="1336715" cy="402312"/>
          </a:xfrm>
          <a:prstGeom prst="roundRect">
            <a:avLst>
              <a:gd fmla="val 18944" name="adj"/>
            </a:avLst>
          </a:prstGeom>
          <a:noFill/>
          <a:ln cap="flat" cmpd="sng" w="15225">
            <a:solidFill>
              <a:srgbClr val="629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945118" y="796052"/>
            <a:ext cx="1034058" cy="23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296FF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6296FF"/>
                </a:solidFill>
                <a:latin typeface="Geist"/>
                <a:ea typeface="Geist"/>
                <a:cs typeface="Geist"/>
                <a:sym typeface="Geist"/>
              </a:rPr>
              <a:t>STRUCTURE</a:t>
            </a:r>
            <a:endParaRPr b="0" i="0" sz="1400" u="none" cap="none" strike="noStrike"/>
          </a:p>
        </p:txBody>
      </p:sp>
      <p:sp>
        <p:nvSpPr>
          <p:cNvPr id="264" name="Google Shape;264;p23"/>
          <p:cNvSpPr/>
          <p:nvPr/>
        </p:nvSpPr>
        <p:spPr>
          <a:xfrm>
            <a:off x="793790" y="1205865"/>
            <a:ext cx="5670590" cy="737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Rôle des packs</a:t>
            </a:r>
            <a:endParaRPr b="0" i="0" sz="4450" u="none" cap="none" strike="noStrike"/>
          </a:p>
        </p:txBody>
      </p:sp>
      <p:pic>
        <p:nvPicPr>
          <p:cNvPr descr="preencoded.png" id="265" name="Google Shape;2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8314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/>
          <p:nvPr/>
        </p:nvSpPr>
        <p:spPr>
          <a:xfrm>
            <a:off x="2154674" y="2509957"/>
            <a:ext cx="2835235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Structurer l'offre</a:t>
            </a:r>
            <a:endParaRPr b="0" i="0" sz="2200" u="none" cap="none" strike="noStrike"/>
          </a:p>
        </p:txBody>
      </p:sp>
      <p:sp>
        <p:nvSpPr>
          <p:cNvPr id="267" name="Google Shape;267;p23"/>
          <p:cNvSpPr/>
          <p:nvPr/>
        </p:nvSpPr>
        <p:spPr>
          <a:xfrm>
            <a:off x="2154674" y="3014543"/>
            <a:ext cx="1168193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Les packs organisent l'offre en niveaux clairs et compréhensibles pour le marché.</a:t>
            </a:r>
            <a:endParaRPr b="0" i="0" sz="1750" u="none" cap="none" strike="noStrike"/>
          </a:p>
        </p:txBody>
      </p:sp>
      <p:pic>
        <p:nvPicPr>
          <p:cNvPr descr="preencoded.png" id="268" name="Google Shape;2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644027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/>
          <p:nvPr/>
        </p:nvSpPr>
        <p:spPr>
          <a:xfrm>
            <a:off x="2154674" y="3870841"/>
            <a:ext cx="2835235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Refléter la maturité</a:t>
            </a:r>
            <a:endParaRPr b="0" i="0" sz="2200" u="none" cap="none" strike="noStrike"/>
          </a:p>
        </p:txBody>
      </p:sp>
      <p:sp>
        <p:nvSpPr>
          <p:cNvPr id="270" name="Google Shape;270;p23"/>
          <p:cNvSpPr/>
          <p:nvPr/>
        </p:nvSpPr>
        <p:spPr>
          <a:xfrm>
            <a:off x="2154674" y="4375428"/>
            <a:ext cx="1168193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Chaque pack correspond à un stade de maturité dans l'usage du produit par le client.</a:t>
            </a:r>
            <a:endParaRPr b="0" i="0" sz="1750" u="none" cap="none" strike="noStrike"/>
          </a:p>
        </p:txBody>
      </p:sp>
      <p:pic>
        <p:nvPicPr>
          <p:cNvPr descr="preencoded.png" id="271" name="Google Shape;27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004911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/>
          <p:nvPr/>
        </p:nvSpPr>
        <p:spPr>
          <a:xfrm>
            <a:off x="2154674" y="5231725"/>
            <a:ext cx="4651534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Créer des trajectoires d'évolution</a:t>
            </a:r>
            <a:endParaRPr b="0" i="0" sz="2200" u="none" cap="none" strike="noStrike"/>
          </a:p>
        </p:txBody>
      </p:sp>
      <p:sp>
        <p:nvSpPr>
          <p:cNvPr id="273" name="Google Shape;273;p23"/>
          <p:cNvSpPr/>
          <p:nvPr/>
        </p:nvSpPr>
        <p:spPr>
          <a:xfrm>
            <a:off x="2154674" y="5736312"/>
            <a:ext cx="11681936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Les packs définissent des chemins d'upsell naturels et prévisibles dans le temps.</a:t>
            </a:r>
            <a:endParaRPr b="0" i="0" sz="1750" u="none" cap="none" strike="noStrike"/>
          </a:p>
        </p:txBody>
      </p:sp>
      <p:sp>
        <p:nvSpPr>
          <p:cNvPr id="274" name="Google Shape;274;p23"/>
          <p:cNvSpPr/>
          <p:nvPr/>
        </p:nvSpPr>
        <p:spPr>
          <a:xfrm>
            <a:off x="793790" y="6620947"/>
            <a:ext cx="13042821" cy="895707"/>
          </a:xfrm>
          <a:prstGeom prst="roundRect">
            <a:avLst>
              <a:gd fmla="val 10636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0604" y="6926937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/>
          <p:nvPr/>
        </p:nvSpPr>
        <p:spPr>
          <a:xfrm>
            <a:off x="1530906" y="6904434"/>
            <a:ext cx="1207889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Les packs structurent l'offre. L'usage pilote la monétisation.</a:t>
            </a:r>
            <a:endParaRPr b="0" i="0" sz="1750" u="none" cap="none" strike="noStrike"/>
          </a:p>
        </p:txBody>
      </p:sp>
      <p:pic>
        <p:nvPicPr>
          <p:cNvPr id="277" name="Google Shape;277;p23" title="Capture d’écran 2026-01-29 à 15.00.4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793790" y="766763"/>
            <a:ext cx="1712100" cy="371700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929878" y="834747"/>
            <a:ext cx="14397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DÉCISIONS CLÉS</a:t>
            </a:r>
            <a:endParaRPr b="0" i="0" sz="1400" u="none" cap="none" strike="noStrike"/>
          </a:p>
        </p:txBody>
      </p:sp>
      <p:sp>
        <p:nvSpPr>
          <p:cNvPr id="285" name="Google Shape;285;p24"/>
          <p:cNvSpPr/>
          <p:nvPr/>
        </p:nvSpPr>
        <p:spPr>
          <a:xfrm>
            <a:off x="793790" y="1229320"/>
            <a:ext cx="121497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Pack Scaling</a:t>
            </a:r>
            <a:endParaRPr b="0" i="0" sz="4450" u="none" cap="none" strike="noStrike"/>
          </a:p>
        </p:txBody>
      </p:sp>
      <p:sp>
        <p:nvSpPr>
          <p:cNvPr id="286" name="Google Shape;286;p24"/>
          <p:cNvSpPr/>
          <p:nvPr/>
        </p:nvSpPr>
        <p:spPr>
          <a:xfrm>
            <a:off x="793790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10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/>
          <p:nvPr/>
        </p:nvSpPr>
        <p:spPr>
          <a:xfrm>
            <a:off x="1142524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Clients Cibles</a:t>
            </a:r>
            <a:endParaRPr b="0" i="0" sz="2200" u="none" cap="none" strike="noStrike"/>
          </a:p>
        </p:txBody>
      </p:sp>
      <p:sp>
        <p:nvSpPr>
          <p:cNvPr id="289" name="Google Shape;289;p24"/>
          <p:cNvSpPr/>
          <p:nvPr/>
        </p:nvSpPr>
        <p:spPr>
          <a:xfrm>
            <a:off x="1142524" y="306847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Équipes en croissance ou complexes.</a:t>
            </a:r>
            <a:endParaRPr b="0" i="0" sz="1750" u="none" cap="none" strike="noStrike"/>
          </a:p>
        </p:txBody>
      </p:sp>
      <p:sp>
        <p:nvSpPr>
          <p:cNvPr id="290" name="Google Shape;290;p24"/>
          <p:cNvSpPr/>
          <p:nvPr/>
        </p:nvSpPr>
        <p:spPr>
          <a:xfrm>
            <a:off x="1142524" y="3737372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Recruteurs et parties prenantes multiples.</a:t>
            </a:r>
            <a:endParaRPr b="0" i="0" sz="1750" u="none" cap="none" strike="noStrike"/>
          </a:p>
        </p:txBody>
      </p:sp>
      <p:sp>
        <p:nvSpPr>
          <p:cNvPr id="291" name="Google Shape;291;p24"/>
          <p:cNvSpPr/>
          <p:nvPr/>
        </p:nvSpPr>
        <p:spPr>
          <a:xfrm>
            <a:off x="1142524" y="44062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Recrutement stratégique et opérationnel.</a:t>
            </a:r>
            <a:endParaRPr b="0" i="0" sz="1750" u="none" cap="none" strike="noStrike"/>
          </a:p>
        </p:txBody>
      </p:sp>
      <p:sp>
        <p:nvSpPr>
          <p:cNvPr id="292" name="Google Shape;292;p24"/>
          <p:cNvSpPr/>
          <p:nvPr/>
        </p:nvSpPr>
        <p:spPr>
          <a:xfrm>
            <a:off x="5216962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482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4"/>
          <p:cNvSpPr/>
          <p:nvPr/>
        </p:nvSpPr>
        <p:spPr>
          <a:xfrm>
            <a:off x="5565696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Problème Adressé</a:t>
            </a:r>
            <a:endParaRPr b="0" i="0" sz="2200" u="none" cap="none" strike="noStrike"/>
          </a:p>
        </p:txBody>
      </p:sp>
      <p:sp>
        <p:nvSpPr>
          <p:cNvPr id="295" name="Google Shape;295;p24"/>
          <p:cNvSpPr/>
          <p:nvPr/>
        </p:nvSpPr>
        <p:spPr>
          <a:xfrm>
            <a:off x="5565696" y="306847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Besoin de prioriser les candidats.</a:t>
            </a:r>
            <a:endParaRPr b="0" i="0" sz="1750" u="none" cap="none" strike="noStrike"/>
          </a:p>
        </p:txBody>
      </p:sp>
      <p:sp>
        <p:nvSpPr>
          <p:cNvPr id="296" name="Google Shape;296;p24"/>
          <p:cNvSpPr/>
          <p:nvPr/>
        </p:nvSpPr>
        <p:spPr>
          <a:xfrm>
            <a:off x="5565696" y="3737372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Mesurer et améliorer la performance du recrutement.</a:t>
            </a:r>
            <a:endParaRPr b="0" i="0" sz="1750" u="none" cap="none" strike="noStrike"/>
          </a:p>
        </p:txBody>
      </p:sp>
      <p:sp>
        <p:nvSpPr>
          <p:cNvPr id="297" name="Google Shape;297;p24"/>
          <p:cNvSpPr/>
          <p:nvPr/>
        </p:nvSpPr>
        <p:spPr>
          <a:xfrm>
            <a:off x="5565696" y="44062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Sécuriser les décisions et processus.</a:t>
            </a:r>
            <a:endParaRPr b="0" i="0" sz="1750" u="none" cap="none" strike="noStrike"/>
          </a:p>
        </p:txBody>
      </p:sp>
      <p:sp>
        <p:nvSpPr>
          <p:cNvPr id="298" name="Google Shape;298;p24"/>
          <p:cNvSpPr/>
          <p:nvPr/>
        </p:nvSpPr>
        <p:spPr>
          <a:xfrm>
            <a:off x="9640133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53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/>
          <p:nvPr/>
        </p:nvSpPr>
        <p:spPr>
          <a:xfrm>
            <a:off x="9988868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Capacités du Pack</a:t>
            </a:r>
            <a:endParaRPr b="0" i="0" sz="2200" u="none" cap="none" strike="noStrike"/>
          </a:p>
        </p:txBody>
      </p:sp>
      <p:sp>
        <p:nvSpPr>
          <p:cNvPr id="301" name="Google Shape;301;p24"/>
          <p:cNvSpPr/>
          <p:nvPr/>
        </p:nvSpPr>
        <p:spPr>
          <a:xfrm>
            <a:off x="9988875" y="3068465"/>
            <a:ext cx="3590400" cy="20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Matching/Ranking IA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(Jemmo)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Transcript IA (Noota)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Evaluations IA (ScoreCard)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Flatchr Skill (Trimoji)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793790" y="5479971"/>
            <a:ext cx="6408000" cy="1983000"/>
          </a:xfrm>
          <a:prstGeom prst="roundRect">
            <a:avLst>
              <a:gd fmla="val 7378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10" y="5479971"/>
            <a:ext cx="121920" cy="198286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4"/>
          <p:cNvSpPr/>
          <p:nvPr/>
        </p:nvSpPr>
        <p:spPr>
          <a:xfrm>
            <a:off x="1142524" y="5737265"/>
            <a:ext cx="383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Ce qu’il ne fait pas</a:t>
            </a:r>
            <a:endParaRPr b="0" i="0" sz="2200" u="none" cap="none" strike="noStrike"/>
          </a:p>
        </p:txBody>
      </p:sp>
      <p:sp>
        <p:nvSpPr>
          <p:cNvPr id="305" name="Google Shape;305;p24"/>
          <p:cNvSpPr/>
          <p:nvPr/>
        </p:nvSpPr>
        <p:spPr>
          <a:xfrm>
            <a:off x="1142524" y="6241852"/>
            <a:ext cx="5802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Fonctionnalités Entreprise (SSO, API, multi-comptes).</a:t>
            </a:r>
            <a:endParaRPr b="0" i="0" sz="1750" u="none" cap="none" strike="noStrike"/>
          </a:p>
        </p:txBody>
      </p:sp>
      <p:sp>
        <p:nvSpPr>
          <p:cNvPr id="306" name="Google Shape;306;p24"/>
          <p:cNvSpPr/>
          <p:nvPr/>
        </p:nvSpPr>
        <p:spPr>
          <a:xfrm>
            <a:off x="1142524" y="6589745"/>
            <a:ext cx="580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Usage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limité des fonctionnalités IA</a:t>
            </a: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par défaut</a:t>
            </a: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b="0" i="0" sz="1750" u="none" cap="none" strike="noStrike"/>
          </a:p>
        </p:txBody>
      </p:sp>
      <p:sp>
        <p:nvSpPr>
          <p:cNvPr id="307" name="Google Shape;307;p24"/>
          <p:cNvSpPr/>
          <p:nvPr/>
        </p:nvSpPr>
        <p:spPr>
          <a:xfrm>
            <a:off x="7428548" y="5479971"/>
            <a:ext cx="6408000" cy="1983000"/>
          </a:xfrm>
          <a:prstGeom prst="roundRect">
            <a:avLst>
              <a:gd fmla="val 7378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8067" y="5479971"/>
            <a:ext cx="121920" cy="198286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/>
          <p:nvPr/>
        </p:nvSpPr>
        <p:spPr>
          <a:xfrm>
            <a:off x="7777282" y="5737265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Prix du pack</a:t>
            </a:r>
            <a:endParaRPr b="0" i="0" sz="2200" u="none" cap="none" strike="noStrike"/>
          </a:p>
        </p:txBody>
      </p:sp>
      <p:sp>
        <p:nvSpPr>
          <p:cNvPr id="310" name="Google Shape;310;p24"/>
          <p:cNvSpPr/>
          <p:nvPr/>
        </p:nvSpPr>
        <p:spPr>
          <a:xfrm>
            <a:off x="7731557" y="6241846"/>
            <a:ext cx="5802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2 500 €*</a:t>
            </a:r>
            <a:endParaRPr b="1" i="0" sz="3000" u="none" cap="none" strike="noStrike"/>
          </a:p>
        </p:txBody>
      </p:sp>
      <p:pic>
        <p:nvPicPr>
          <p:cNvPr id="311" name="Google Shape;311;p24" title="Capture d’écran 2026-01-29 à 15.0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/>
          <p:nvPr/>
        </p:nvSpPr>
        <p:spPr>
          <a:xfrm>
            <a:off x="793800" y="7560600"/>
            <a:ext cx="6983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* limitation de services soumises par les partenaires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/>
          <p:nvPr/>
        </p:nvSpPr>
        <p:spPr>
          <a:xfrm>
            <a:off x="793790" y="766763"/>
            <a:ext cx="1712100" cy="371700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929878" y="834747"/>
            <a:ext cx="14397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DÉCISIONS CLÉS</a:t>
            </a:r>
            <a:endParaRPr b="0" i="0" sz="1400" u="none" cap="none" strike="noStrike"/>
          </a:p>
        </p:txBody>
      </p:sp>
      <p:sp>
        <p:nvSpPr>
          <p:cNvPr id="320" name="Google Shape;320;p25"/>
          <p:cNvSpPr/>
          <p:nvPr/>
        </p:nvSpPr>
        <p:spPr>
          <a:xfrm>
            <a:off x="793790" y="1229320"/>
            <a:ext cx="121497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Pack </a:t>
            </a: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Entreprise</a:t>
            </a:r>
            <a:endParaRPr b="0" i="0" sz="4450" u="none" cap="none" strike="noStrike"/>
          </a:p>
        </p:txBody>
      </p:sp>
      <p:sp>
        <p:nvSpPr>
          <p:cNvPr id="321" name="Google Shape;321;p25"/>
          <p:cNvSpPr/>
          <p:nvPr/>
        </p:nvSpPr>
        <p:spPr>
          <a:xfrm>
            <a:off x="793790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10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5"/>
          <p:cNvSpPr/>
          <p:nvPr/>
        </p:nvSpPr>
        <p:spPr>
          <a:xfrm>
            <a:off x="1142524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Clients Cibles</a:t>
            </a:r>
            <a:endParaRPr b="0" i="0" sz="2200" u="none" cap="none" strike="noStrike"/>
          </a:p>
        </p:txBody>
      </p:sp>
      <p:sp>
        <p:nvSpPr>
          <p:cNvPr id="324" name="Google Shape;324;p25"/>
          <p:cNvSpPr/>
          <p:nvPr/>
        </p:nvSpPr>
        <p:spPr>
          <a:xfrm>
            <a:off x="1142524" y="306847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Le recrutement est stratégiquement critique</a:t>
            </a:r>
            <a:endParaRPr b="0" i="0" sz="1750" u="none" cap="none" strike="noStrike"/>
          </a:p>
        </p:txBody>
      </p:sp>
      <p:sp>
        <p:nvSpPr>
          <p:cNvPr id="325" name="Google Shape;325;p25"/>
          <p:cNvSpPr/>
          <p:nvPr/>
        </p:nvSpPr>
        <p:spPr>
          <a:xfrm>
            <a:off x="1142524" y="3737372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Environnements complexes.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142524" y="44062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ontraintes IT, de sécurité ou de gouvernance strictes.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5216962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8" name="Google Shape;3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482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/>
          <p:nvPr/>
        </p:nvSpPr>
        <p:spPr>
          <a:xfrm>
            <a:off x="5565696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Problème Adressé</a:t>
            </a:r>
            <a:endParaRPr b="0" i="0" sz="2200" u="none" cap="none" strike="noStrike"/>
          </a:p>
        </p:txBody>
      </p:sp>
      <p:sp>
        <p:nvSpPr>
          <p:cNvPr id="330" name="Google Shape;330;p25"/>
          <p:cNvSpPr/>
          <p:nvPr/>
        </p:nvSpPr>
        <p:spPr>
          <a:xfrm>
            <a:off x="5565696" y="306847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Besoin de sécurité, fiabilité et conformité réglementaire.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5565696" y="44062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Exigence de gouvernance et de contrôle centralisés.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9640133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53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/>
          <p:nvPr/>
        </p:nvSpPr>
        <p:spPr>
          <a:xfrm>
            <a:off x="9988868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Capacités du Pack</a:t>
            </a:r>
            <a:endParaRPr b="0" i="0" sz="2200" u="none" cap="none" strike="noStrike"/>
          </a:p>
        </p:txBody>
      </p:sp>
      <p:sp>
        <p:nvSpPr>
          <p:cNvPr id="335" name="Google Shape;335;p25"/>
          <p:cNvSpPr/>
          <p:nvPr/>
        </p:nvSpPr>
        <p:spPr>
          <a:xfrm>
            <a:off x="9988875" y="3068466"/>
            <a:ext cx="3590400" cy="1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SSO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Multi-Compte illimité *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Statistiques ++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API (support technique)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JTMO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793790" y="5479971"/>
            <a:ext cx="6408000" cy="1983000"/>
          </a:xfrm>
          <a:prstGeom prst="roundRect">
            <a:avLst>
              <a:gd fmla="val 7378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10" y="5479971"/>
            <a:ext cx="121920" cy="198286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/>
          <p:nvPr/>
        </p:nvSpPr>
        <p:spPr>
          <a:xfrm>
            <a:off x="1142524" y="5737265"/>
            <a:ext cx="383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Ce qu’il ne fait pas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1142525" y="6241851"/>
            <a:ext cx="5802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Personnalisation fonctionnalité par fonctionnalité.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1142524" y="6610245"/>
            <a:ext cx="580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Support</a:t>
            </a: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API </a:t>
            </a: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limité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en temps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JTMO : sous réserve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d'éligibilité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5565696" y="37373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Nécessité d'intégration dans l'écosystème IT existant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7428548" y="5479971"/>
            <a:ext cx="6408000" cy="1983000"/>
          </a:xfrm>
          <a:prstGeom prst="roundRect">
            <a:avLst>
              <a:gd fmla="val 7378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7777282" y="5737265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Prix du pack</a:t>
            </a:r>
            <a:endParaRPr b="0" i="0" sz="2200" u="none" cap="none" strike="noStrike"/>
          </a:p>
        </p:txBody>
      </p:sp>
      <p:sp>
        <p:nvSpPr>
          <p:cNvPr id="344" name="Google Shape;344;p25"/>
          <p:cNvSpPr/>
          <p:nvPr/>
        </p:nvSpPr>
        <p:spPr>
          <a:xfrm>
            <a:off x="7731557" y="6241846"/>
            <a:ext cx="5802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r>
              <a:rPr b="1" lang="en-US" sz="30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000 €</a:t>
            </a:r>
            <a:endParaRPr b="1" i="0" sz="3000" u="none" cap="none" strike="noStrike"/>
          </a:p>
        </p:txBody>
      </p:sp>
      <p:pic>
        <p:nvPicPr>
          <p:cNvPr descr="preencoded.png" id="345" name="Google Shape;34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8067" y="5479971"/>
            <a:ext cx="121920" cy="198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 title="Capture d’écran 2026-01-29 à 15.0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/>
          <p:nvPr/>
        </p:nvSpPr>
        <p:spPr>
          <a:xfrm>
            <a:off x="793800" y="7560600"/>
            <a:ext cx="6983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* limitation à 10 SIREN différents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"/>
          <p:cNvSpPr/>
          <p:nvPr/>
        </p:nvSpPr>
        <p:spPr>
          <a:xfrm>
            <a:off x="793790" y="766763"/>
            <a:ext cx="1712100" cy="371700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"/>
          <p:cNvSpPr/>
          <p:nvPr/>
        </p:nvSpPr>
        <p:spPr>
          <a:xfrm>
            <a:off x="929878" y="834747"/>
            <a:ext cx="14397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DÉCISIONS CLÉS</a:t>
            </a:r>
            <a:endParaRPr b="0" i="0" sz="1400" u="none" cap="none" strike="noStrike"/>
          </a:p>
        </p:txBody>
      </p:sp>
      <p:sp>
        <p:nvSpPr>
          <p:cNvPr id="355" name="Google Shape;355;p26"/>
          <p:cNvSpPr/>
          <p:nvPr/>
        </p:nvSpPr>
        <p:spPr>
          <a:xfrm>
            <a:off x="793790" y="1229320"/>
            <a:ext cx="121497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Pack </a:t>
            </a: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Multi-Entités</a:t>
            </a:r>
            <a:endParaRPr b="0" i="0" sz="4450" u="none" cap="none" strike="noStrike"/>
          </a:p>
        </p:txBody>
      </p:sp>
      <p:sp>
        <p:nvSpPr>
          <p:cNvPr id="356" name="Google Shape;356;p26"/>
          <p:cNvSpPr/>
          <p:nvPr/>
        </p:nvSpPr>
        <p:spPr>
          <a:xfrm>
            <a:off x="793790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310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/>
        </p:nvSpPr>
        <p:spPr>
          <a:xfrm>
            <a:off x="1142524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Clients Cibles</a:t>
            </a:r>
            <a:endParaRPr b="0" i="0" sz="2200" u="none" cap="none" strike="noStrike"/>
          </a:p>
        </p:txBody>
      </p:sp>
      <p:sp>
        <p:nvSpPr>
          <p:cNvPr id="359" name="Google Shape;359;p26"/>
          <p:cNvSpPr/>
          <p:nvPr/>
        </p:nvSpPr>
        <p:spPr>
          <a:xfrm>
            <a:off x="1142524" y="306847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Organisations multi-entités, agences ou franchises.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1142524" y="3737372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Recrutement décentralisé avec supervision centralisée.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1142524" y="44062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Sièges sociaux nécessitant une visibilité transversale.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5216962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6482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6"/>
          <p:cNvSpPr/>
          <p:nvPr/>
        </p:nvSpPr>
        <p:spPr>
          <a:xfrm>
            <a:off x="5565696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Problème Adressé</a:t>
            </a:r>
            <a:endParaRPr b="0" i="0" sz="2200" u="none" cap="none" strike="noStrike"/>
          </a:p>
        </p:txBody>
      </p:sp>
      <p:sp>
        <p:nvSpPr>
          <p:cNvPr id="365" name="Google Shape;365;p26"/>
          <p:cNvSpPr/>
          <p:nvPr/>
        </p:nvSpPr>
        <p:spPr>
          <a:xfrm>
            <a:off x="5565696" y="306847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Équilibrer l'autonomie locale et la gouvernance globale.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5565696" y="44062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Application de standards partagés entre les entités.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9640133" y="2306598"/>
            <a:ext cx="4196400" cy="2946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9653" y="2306598"/>
            <a:ext cx="121920" cy="294656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6"/>
          <p:cNvSpPr/>
          <p:nvPr/>
        </p:nvSpPr>
        <p:spPr>
          <a:xfrm>
            <a:off x="9988868" y="256389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Capacités du Pack</a:t>
            </a:r>
            <a:endParaRPr b="0" i="0" sz="2200" u="none" cap="none" strike="noStrike"/>
          </a:p>
        </p:txBody>
      </p:sp>
      <p:sp>
        <p:nvSpPr>
          <p:cNvPr id="370" name="Google Shape;370;p26"/>
          <p:cNvSpPr/>
          <p:nvPr/>
        </p:nvSpPr>
        <p:spPr>
          <a:xfrm>
            <a:off x="9988875" y="3068466"/>
            <a:ext cx="3590400" cy="1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Multi-Compte Limité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Statistiques consolidées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Paramétrage commun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CVThèque partagée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  <a:p>
            <a:pPr indent="-3397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Site carrière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agrégés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793790" y="5479971"/>
            <a:ext cx="6408000" cy="1983000"/>
          </a:xfrm>
          <a:prstGeom prst="roundRect">
            <a:avLst>
              <a:gd fmla="val 7378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10" y="5479971"/>
            <a:ext cx="121920" cy="198286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6"/>
          <p:cNvSpPr/>
          <p:nvPr/>
        </p:nvSpPr>
        <p:spPr>
          <a:xfrm>
            <a:off x="1142524" y="5737265"/>
            <a:ext cx="3839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Ce qu’il ne fait pas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1142525" y="6241851"/>
            <a:ext cx="5802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Fonctionnalités IT Entreprise (SSO, API).</a:t>
            </a:r>
            <a:endParaRPr b="0" i="0" sz="1750" u="none" cap="none" strike="noStrike"/>
          </a:p>
        </p:txBody>
      </p:sp>
      <p:sp>
        <p:nvSpPr>
          <p:cNvPr id="375" name="Google Shape;375;p26"/>
          <p:cNvSpPr/>
          <p:nvPr/>
        </p:nvSpPr>
        <p:spPr>
          <a:xfrm>
            <a:off x="1142524" y="6589745"/>
            <a:ext cx="5802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Personnalisation illimitée inter-entités.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5565696" y="3737365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Besoin de visibilité consolidée et de reporting unifié.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7428548" y="5479971"/>
            <a:ext cx="6408000" cy="1983000"/>
          </a:xfrm>
          <a:prstGeom prst="roundRect">
            <a:avLst>
              <a:gd fmla="val 7378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"/>
          <p:cNvSpPr/>
          <p:nvPr/>
        </p:nvSpPr>
        <p:spPr>
          <a:xfrm>
            <a:off x="7777282" y="5737265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Prix du pack</a:t>
            </a:r>
            <a:endParaRPr b="0" i="0" sz="2200" u="none" cap="none" strike="noStrike"/>
          </a:p>
        </p:txBody>
      </p:sp>
      <p:sp>
        <p:nvSpPr>
          <p:cNvPr id="379" name="Google Shape;379;p26"/>
          <p:cNvSpPr/>
          <p:nvPr/>
        </p:nvSpPr>
        <p:spPr>
          <a:xfrm>
            <a:off x="7731557" y="6241846"/>
            <a:ext cx="5802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500 </a:t>
            </a:r>
            <a:r>
              <a:rPr b="1" lang="en-US" sz="30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€ / Compte</a:t>
            </a:r>
            <a:endParaRPr b="1" i="0" sz="3000" u="none" cap="none" strike="noStrike"/>
          </a:p>
        </p:txBody>
      </p:sp>
      <p:pic>
        <p:nvPicPr>
          <p:cNvPr descr="preencoded.png" id="380" name="Google Shape;3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8067" y="5479971"/>
            <a:ext cx="121920" cy="198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6" title="Capture d’écran 2026-01-29 à 15.0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7"/>
          <p:cNvSpPr/>
          <p:nvPr/>
        </p:nvSpPr>
        <p:spPr>
          <a:xfrm>
            <a:off x="793790" y="1347073"/>
            <a:ext cx="5670590" cy="737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Impact par équipe</a:t>
            </a:r>
            <a:endParaRPr b="0" i="0" sz="4450" u="none" cap="none" strike="noStrike"/>
          </a:p>
        </p:txBody>
      </p:sp>
      <p:pic>
        <p:nvPicPr>
          <p:cNvPr descr="preencoded.png" id="388" name="Google Shape;3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37817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7"/>
          <p:cNvSpPr/>
          <p:nvPr/>
        </p:nvSpPr>
        <p:spPr>
          <a:xfrm>
            <a:off x="793790" y="5334833"/>
            <a:ext cx="2835235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Sales</a:t>
            </a:r>
            <a:endParaRPr b="0" i="0" sz="2200" u="none" cap="none" strike="noStrike"/>
          </a:p>
        </p:txBody>
      </p:sp>
      <p:sp>
        <p:nvSpPr>
          <p:cNvPr id="390" name="Google Shape;390;p27"/>
          <p:cNvSpPr/>
          <p:nvPr/>
        </p:nvSpPr>
        <p:spPr>
          <a:xfrm>
            <a:off x="793790" y="5839420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Moins d'exceptions à gérer</a:t>
            </a:r>
            <a:endParaRPr b="0" i="0" sz="1750" u="none" cap="none" strike="noStrike"/>
          </a:p>
        </p:txBody>
      </p:sp>
      <p:sp>
        <p:nvSpPr>
          <p:cNvPr id="391" name="Google Shape;391;p27"/>
          <p:cNvSpPr/>
          <p:nvPr/>
        </p:nvSpPr>
        <p:spPr>
          <a:xfrm>
            <a:off x="793790" y="6213515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Cadre de négociation plus clair</a:t>
            </a:r>
            <a:endParaRPr b="0" i="0" sz="1750" u="none" cap="none" strike="noStrike"/>
          </a:p>
        </p:txBody>
      </p:sp>
      <p:sp>
        <p:nvSpPr>
          <p:cNvPr id="392" name="Google Shape;392;p27"/>
          <p:cNvSpPr/>
          <p:nvPr/>
        </p:nvSpPr>
        <p:spPr>
          <a:xfrm>
            <a:off x="793790" y="6587609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Arguments d'upsell structurés</a:t>
            </a:r>
            <a:endParaRPr b="0" i="0" sz="1750" u="none" cap="none" strike="noStrike"/>
          </a:p>
        </p:txBody>
      </p:sp>
      <p:pic>
        <p:nvPicPr>
          <p:cNvPr descr="preencoded.png" id="393" name="Google Shape;39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893" y="2537817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7"/>
          <p:cNvSpPr/>
          <p:nvPr/>
        </p:nvSpPr>
        <p:spPr>
          <a:xfrm>
            <a:off x="5235893" y="5334833"/>
            <a:ext cx="2835235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CSM</a:t>
            </a:r>
            <a:endParaRPr b="0" i="0" sz="2200" u="none" cap="none" strike="noStrike"/>
          </a:p>
        </p:txBody>
      </p:sp>
      <p:sp>
        <p:nvSpPr>
          <p:cNvPr id="395" name="Google Shape;395;p27"/>
          <p:cNvSpPr/>
          <p:nvPr/>
        </p:nvSpPr>
        <p:spPr>
          <a:xfrm>
            <a:off x="5235893" y="5839420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Suivi de consommation simplifié</a:t>
            </a:r>
            <a:endParaRPr b="0" i="0" sz="1750" u="none" cap="none" strike="noStrike"/>
          </a:p>
        </p:txBody>
      </p:sp>
      <p:sp>
        <p:nvSpPr>
          <p:cNvPr id="396" name="Google Shape;396;p27"/>
          <p:cNvSpPr/>
          <p:nvPr/>
        </p:nvSpPr>
        <p:spPr>
          <a:xfrm>
            <a:off x="5235893" y="6213515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Déclencheurs d'upsell identifiables</a:t>
            </a:r>
            <a:endParaRPr b="0" i="0" sz="1750" u="none" cap="none" strike="noStrike"/>
          </a:p>
        </p:txBody>
      </p:sp>
      <p:sp>
        <p:nvSpPr>
          <p:cNvPr id="397" name="Google Shape;397;p27"/>
          <p:cNvSpPr/>
          <p:nvPr/>
        </p:nvSpPr>
        <p:spPr>
          <a:xfrm>
            <a:off x="5235893" y="6587609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Meilleure anticipation des besoins</a:t>
            </a:r>
            <a:endParaRPr b="0" i="0" sz="1750" u="none" cap="none" strike="noStrike"/>
          </a:p>
        </p:txBody>
      </p:sp>
      <p:pic>
        <p:nvPicPr>
          <p:cNvPr descr="preencoded.png" id="398" name="Google Shape;3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995" y="2537817"/>
            <a:ext cx="4158615" cy="257020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7"/>
          <p:cNvSpPr/>
          <p:nvPr/>
        </p:nvSpPr>
        <p:spPr>
          <a:xfrm>
            <a:off x="9677995" y="5334833"/>
            <a:ext cx="2835235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Product/Tech</a:t>
            </a:r>
            <a:endParaRPr b="0" i="0" sz="2200" u="none" cap="none" strike="noStrike"/>
          </a:p>
        </p:txBody>
      </p:sp>
      <p:sp>
        <p:nvSpPr>
          <p:cNvPr id="400" name="Google Shape;400;p27"/>
          <p:cNvSpPr/>
          <p:nvPr/>
        </p:nvSpPr>
        <p:spPr>
          <a:xfrm>
            <a:off x="9677995" y="5839420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Périmètre mieux protégé</a:t>
            </a:r>
            <a:endParaRPr b="0" i="0" sz="1750" u="none" cap="none" strike="noStrike"/>
          </a:p>
        </p:txBody>
      </p:sp>
      <p:sp>
        <p:nvSpPr>
          <p:cNvPr id="401" name="Google Shape;401;p27"/>
          <p:cNvSpPr/>
          <p:nvPr/>
        </p:nvSpPr>
        <p:spPr>
          <a:xfrm>
            <a:off x="9677995" y="6213515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Réduction des promesses ad-hoc</a:t>
            </a:r>
            <a:endParaRPr b="0" i="0" sz="1750" u="none" cap="none" strike="noStrike"/>
          </a:p>
        </p:txBody>
      </p:sp>
      <p:sp>
        <p:nvSpPr>
          <p:cNvPr id="402" name="Google Shape;402;p27"/>
          <p:cNvSpPr/>
          <p:nvPr/>
        </p:nvSpPr>
        <p:spPr>
          <a:xfrm>
            <a:off x="9677995" y="6587609"/>
            <a:ext cx="415861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Feuille de route plus lisible</a:t>
            </a:r>
            <a:endParaRPr b="0" i="0" sz="1750" u="none" cap="none" strike="noStrike"/>
          </a:p>
        </p:txBody>
      </p:sp>
      <p:pic>
        <p:nvPicPr>
          <p:cNvPr id="403" name="Google Shape;403;p27" title="Capture d’écran 2026-01-29 à 15.00.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/>
          <p:nvPr/>
        </p:nvSpPr>
        <p:spPr>
          <a:xfrm>
            <a:off x="706875" y="885575"/>
            <a:ext cx="12144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oppins Black"/>
              <a:buNone/>
            </a:pPr>
            <a:r>
              <a:rPr lang="en-US" sz="42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Une offre adaptée à chaque organisation !</a:t>
            </a:r>
            <a:endParaRPr sz="42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id="410" name="Google Shape;410;p28" title="tentacule orange foncé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1999253">
            <a:off x="353119" y="6785129"/>
            <a:ext cx="2580761" cy="1443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8"/>
          <p:cNvSpPr/>
          <p:nvPr/>
        </p:nvSpPr>
        <p:spPr>
          <a:xfrm>
            <a:off x="2423149" y="2212120"/>
            <a:ext cx="4885200" cy="96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Socle </a:t>
            </a:r>
            <a:r>
              <a:rPr lang="en-US" sz="2200" u="sng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fonctionnel</a:t>
            </a:r>
            <a:endParaRPr sz="2200" u="sng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2423153" y="3379950"/>
            <a:ext cx="10789800" cy="99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Packs Stratégiques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8366950" y="2182400"/>
            <a:ext cx="48459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à l’usage</a:t>
            </a:r>
            <a:endParaRPr b="1" sz="2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28"/>
          <p:cNvSpPr/>
          <p:nvPr/>
        </p:nvSpPr>
        <p:spPr>
          <a:xfrm>
            <a:off x="2538875" y="6460550"/>
            <a:ext cx="106740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Catalogue Produits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(Imports, Atelier de formation, SIRH, Tests de personnalité, Sourcing, Data,  …)</a:t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415" name="Google Shape;415;p28"/>
          <p:cNvGrpSpPr/>
          <p:nvPr/>
        </p:nvGrpSpPr>
        <p:grpSpPr>
          <a:xfrm rot="4772078">
            <a:off x="2094102" y="5974394"/>
            <a:ext cx="217666" cy="299985"/>
            <a:chOff x="5868361" y="967732"/>
            <a:chExt cx="95224" cy="131237"/>
          </a:xfrm>
        </p:grpSpPr>
        <p:sp>
          <p:nvSpPr>
            <p:cNvPr id="416" name="Google Shape;416;p28"/>
            <p:cNvSpPr/>
            <p:nvPr/>
          </p:nvSpPr>
          <p:spPr>
            <a:xfrm flipH="1" rot="-9879227">
              <a:off x="5868686" y="978430"/>
              <a:ext cx="82751" cy="13104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7" name="Google Shape;417;p28"/>
            <p:cNvSpPr/>
            <p:nvPr/>
          </p:nvSpPr>
          <p:spPr>
            <a:xfrm flipH="1" rot="10762635">
              <a:off x="5868635" y="1029142"/>
              <a:ext cx="82805" cy="13200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418" name="Google Shape;418;p28"/>
            <p:cNvSpPr/>
            <p:nvPr/>
          </p:nvSpPr>
          <p:spPr>
            <a:xfrm flipH="1" rot="10096954">
              <a:off x="5880523" y="1077559"/>
              <a:ext cx="82724" cy="13121"/>
            </a:xfrm>
            <a:prstGeom prst="roundRect">
              <a:avLst>
                <a:gd fmla="val 50000" name="adj"/>
              </a:avLst>
            </a:prstGeom>
            <a:solidFill>
              <a:srgbClr val="2B435E"/>
            </a:solidFill>
            <a:ln>
              <a:noFill/>
            </a:ln>
          </p:spPr>
          <p:txBody>
            <a:bodyPr anchorCtr="0" anchor="ctr" bIns="208950" lIns="208950" spcFirstLastPara="1" rIns="208950" wrap="square" tIns="2089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200"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419" name="Google Shape;419;p28"/>
          <p:cNvSpPr txBox="1"/>
          <p:nvPr/>
        </p:nvSpPr>
        <p:spPr>
          <a:xfrm>
            <a:off x="7589595" y="2256050"/>
            <a:ext cx="456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28"/>
          <p:cNvSpPr txBox="1"/>
          <p:nvPr/>
        </p:nvSpPr>
        <p:spPr>
          <a:xfrm>
            <a:off x="7514555" y="5735293"/>
            <a:ext cx="607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2538875" y="4705475"/>
            <a:ext cx="33159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Scaling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Accélérez vos recrutements avec l’IA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6098750" y="4719850"/>
            <a:ext cx="34386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Entreprise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Sécurité, conformité et gouvernance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3" name="Google Shape;423;p28" title="Kakemono Vie professionnelle en Orange pastel Corail Style Simple et Mininaliste-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1261" y="-774960"/>
            <a:ext cx="3499992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8"/>
          <p:cNvSpPr/>
          <p:nvPr/>
        </p:nvSpPr>
        <p:spPr>
          <a:xfrm>
            <a:off x="9980525" y="4705475"/>
            <a:ext cx="32325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Multi-entités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Pilotage RH décentralisé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25" name="Google Shape;425;p28"/>
          <p:cNvCxnSpPr>
            <a:stCxn id="412" idx="2"/>
            <a:endCxn id="421" idx="0"/>
          </p:cNvCxnSpPr>
          <p:nvPr/>
        </p:nvCxnSpPr>
        <p:spPr>
          <a:xfrm flipH="1">
            <a:off x="4196753" y="4374150"/>
            <a:ext cx="3621300" cy="3312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6" name="Google Shape;426;p28"/>
          <p:cNvCxnSpPr>
            <a:stCxn id="412" idx="2"/>
            <a:endCxn id="422" idx="0"/>
          </p:cNvCxnSpPr>
          <p:nvPr/>
        </p:nvCxnSpPr>
        <p:spPr>
          <a:xfrm>
            <a:off x="7818053" y="4374150"/>
            <a:ext cx="0" cy="3456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7" name="Google Shape;427;p28"/>
          <p:cNvCxnSpPr>
            <a:stCxn id="412" idx="2"/>
            <a:endCxn id="424" idx="0"/>
          </p:cNvCxnSpPr>
          <p:nvPr/>
        </p:nvCxnSpPr>
        <p:spPr>
          <a:xfrm>
            <a:off x="7818053" y="4374150"/>
            <a:ext cx="3778800" cy="3312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28" name="Google Shape;428;p28" title="Capture d’écran 2026-01-29 à 15.0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9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9"/>
          <p:cNvSpPr/>
          <p:nvPr/>
        </p:nvSpPr>
        <p:spPr>
          <a:xfrm>
            <a:off x="557550" y="5602575"/>
            <a:ext cx="13621500" cy="23586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9"/>
          <p:cNvSpPr/>
          <p:nvPr/>
        </p:nvSpPr>
        <p:spPr>
          <a:xfrm>
            <a:off x="793804" y="503275"/>
            <a:ext cx="77958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Catalogue Produits Interne</a:t>
            </a:r>
            <a:endParaRPr b="0" i="0" sz="4450" u="none" cap="none" strike="noStrike"/>
          </a:p>
        </p:txBody>
      </p:sp>
      <p:sp>
        <p:nvSpPr>
          <p:cNvPr id="437" name="Google Shape;437;p29"/>
          <p:cNvSpPr/>
          <p:nvPr/>
        </p:nvSpPr>
        <p:spPr>
          <a:xfrm>
            <a:off x="748075" y="1367850"/>
            <a:ext cx="4196400" cy="19053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9"/>
          <p:cNvSpPr/>
          <p:nvPr/>
        </p:nvSpPr>
        <p:spPr>
          <a:xfrm>
            <a:off x="1096800" y="1625150"/>
            <a:ext cx="3590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Imports personalisés</a:t>
            </a:r>
            <a:endParaRPr b="0" i="0" sz="2200" u="none" cap="none" strike="noStrike"/>
          </a:p>
        </p:txBody>
      </p:sp>
      <p:sp>
        <p:nvSpPr>
          <p:cNvPr id="439" name="Google Shape;439;p29"/>
          <p:cNvSpPr/>
          <p:nvPr/>
        </p:nvSpPr>
        <p:spPr>
          <a:xfrm>
            <a:off x="1096799" y="212972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Import de la BDD facturés par pack de 1 000 candidats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5171275" y="1367850"/>
            <a:ext cx="4196400" cy="19053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9"/>
          <p:cNvSpPr/>
          <p:nvPr/>
        </p:nvSpPr>
        <p:spPr>
          <a:xfrm>
            <a:off x="5520000" y="1625150"/>
            <a:ext cx="3590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Export 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personalisés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5519999" y="2129729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Export des informations dans un format personnalisé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9685925" y="1367850"/>
            <a:ext cx="4196400" cy="19053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9"/>
          <p:cNvSpPr/>
          <p:nvPr/>
        </p:nvSpPr>
        <p:spPr>
          <a:xfrm>
            <a:off x="10034650" y="1625150"/>
            <a:ext cx="3590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Tableau Statistiques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10034650" y="2129722"/>
            <a:ext cx="35904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Création d’un tableau métabase avec un ensemble de mesure personnalisée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grpSp>
        <p:nvGrpSpPr>
          <p:cNvPr id="446" name="Google Shape;446;p29"/>
          <p:cNvGrpSpPr/>
          <p:nvPr/>
        </p:nvGrpSpPr>
        <p:grpSpPr>
          <a:xfrm>
            <a:off x="748075" y="5787150"/>
            <a:ext cx="4196400" cy="1905300"/>
            <a:chOff x="748075" y="5787150"/>
            <a:chExt cx="4196400" cy="1905300"/>
          </a:xfrm>
        </p:grpSpPr>
        <p:sp>
          <p:nvSpPr>
            <p:cNvPr id="447" name="Google Shape;447;p29"/>
            <p:cNvSpPr/>
            <p:nvPr/>
          </p:nvSpPr>
          <p:spPr>
            <a:xfrm>
              <a:off x="748075" y="5787150"/>
              <a:ext cx="4196400" cy="1905300"/>
            </a:xfrm>
            <a:prstGeom prst="roundRect">
              <a:avLst>
                <a:gd fmla="val 4965" name="adj"/>
              </a:avLst>
            </a:prstGeom>
            <a:solidFill>
              <a:srgbClr val="101620">
                <a:alpha val="94900"/>
              </a:srgbClr>
            </a:solidFill>
            <a:ln cap="flat" cmpd="sng" w="30475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1096800" y="6044450"/>
              <a:ext cx="3590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Onboarding Premium</a:t>
              </a:r>
              <a:endParaRPr sz="22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t/>
              </a:r>
              <a:endParaRPr b="1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1096799" y="6549029"/>
              <a:ext cx="35904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9725" lvl="0" marL="45720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Char char="•"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Configuration du compte pour le client et import des membres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450" name="Google Shape;450;p29"/>
          <p:cNvGrpSpPr/>
          <p:nvPr/>
        </p:nvGrpSpPr>
        <p:grpSpPr>
          <a:xfrm>
            <a:off x="5171275" y="5787150"/>
            <a:ext cx="4196400" cy="1905300"/>
            <a:chOff x="5171275" y="5787150"/>
            <a:chExt cx="4196400" cy="1905300"/>
          </a:xfrm>
        </p:grpSpPr>
        <p:sp>
          <p:nvSpPr>
            <p:cNvPr id="451" name="Google Shape;451;p29"/>
            <p:cNvSpPr/>
            <p:nvPr/>
          </p:nvSpPr>
          <p:spPr>
            <a:xfrm>
              <a:off x="5171275" y="5787150"/>
              <a:ext cx="4196400" cy="1905300"/>
            </a:xfrm>
            <a:prstGeom prst="roundRect">
              <a:avLst>
                <a:gd fmla="val 4965" name="adj"/>
              </a:avLst>
            </a:prstGeom>
            <a:solidFill>
              <a:srgbClr val="101620">
                <a:alpha val="94900"/>
              </a:srgbClr>
            </a:solidFill>
            <a:ln cap="flat" cmpd="sng" w="30475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5520000" y="6044450"/>
              <a:ext cx="3590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Formation Manager</a:t>
              </a:r>
              <a:endParaRPr b="1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5519999" y="6549029"/>
              <a:ext cx="35904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9725" lvl="0" marL="45720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Char char="•"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Session de présentation en présentiel ou via visio pour former des utilisateurs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454" name="Google Shape;454;p29"/>
          <p:cNvGrpSpPr/>
          <p:nvPr/>
        </p:nvGrpSpPr>
        <p:grpSpPr>
          <a:xfrm>
            <a:off x="9685925" y="5787150"/>
            <a:ext cx="4196400" cy="1905300"/>
            <a:chOff x="9685925" y="5787150"/>
            <a:chExt cx="4196400" cy="1905300"/>
          </a:xfrm>
        </p:grpSpPr>
        <p:sp>
          <p:nvSpPr>
            <p:cNvPr id="455" name="Google Shape;455;p29"/>
            <p:cNvSpPr/>
            <p:nvPr/>
          </p:nvSpPr>
          <p:spPr>
            <a:xfrm>
              <a:off x="9685925" y="5787150"/>
              <a:ext cx="4196400" cy="1905300"/>
            </a:xfrm>
            <a:prstGeom prst="roundRect">
              <a:avLst>
                <a:gd fmla="val 4965" name="adj"/>
              </a:avLst>
            </a:prstGeom>
            <a:solidFill>
              <a:srgbClr val="101620">
                <a:alpha val="94900"/>
              </a:srgbClr>
            </a:solidFill>
            <a:ln cap="flat" cmpd="sng" w="30475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10034650" y="6044450"/>
              <a:ext cx="3590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Atelier RH</a:t>
              </a:r>
              <a:endParaRPr b="0" i="0" sz="2200" u="none" cap="none" strike="noStrike"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10034649" y="6549029"/>
              <a:ext cx="35904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42900" lvl="0" marL="34290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Char char="•"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Formation sur un thème particulier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sp>
        <p:nvSpPr>
          <p:cNvPr id="458" name="Google Shape;458;p29"/>
          <p:cNvSpPr/>
          <p:nvPr/>
        </p:nvSpPr>
        <p:spPr>
          <a:xfrm>
            <a:off x="702350" y="3485225"/>
            <a:ext cx="4196400" cy="19053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"/>
          <p:cNvSpPr/>
          <p:nvPr/>
        </p:nvSpPr>
        <p:spPr>
          <a:xfrm>
            <a:off x="1051075" y="3742525"/>
            <a:ext cx="3590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Site Carrière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1051075" y="4247097"/>
            <a:ext cx="3590400" cy="10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Personnalisation de la marque employeur sur un site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carrière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multi-page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5217000" y="3485212"/>
            <a:ext cx="4196400" cy="19053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"/>
          <p:cNvSpPr/>
          <p:nvPr/>
        </p:nvSpPr>
        <p:spPr>
          <a:xfrm>
            <a:off x="5565725" y="3742513"/>
            <a:ext cx="3590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Connexion Power BI</a:t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5565724" y="4247092"/>
            <a:ext cx="35904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Création d’une database unique contenant l’ensemble des données du clients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9685925" y="3485212"/>
            <a:ext cx="4196400" cy="19053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9"/>
          <p:cNvSpPr/>
          <p:nvPr/>
        </p:nvSpPr>
        <p:spPr>
          <a:xfrm>
            <a:off x="10034650" y="3742513"/>
            <a:ext cx="35904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Support Technique</a:t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10034650" y="4247104"/>
            <a:ext cx="35904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9725" lvl="0" marL="45720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Char char="•"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Atelier d’assistance pour l’utilisation de nos API / WhatsApp Business</a:t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/>
          <p:nvPr/>
        </p:nvSpPr>
        <p:spPr>
          <a:xfrm>
            <a:off x="5504675" y="1344350"/>
            <a:ext cx="4180500" cy="16395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"/>
          <p:cNvSpPr/>
          <p:nvPr/>
        </p:nvSpPr>
        <p:spPr>
          <a:xfrm>
            <a:off x="5845511" y="1601654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Test Personnalité</a:t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10124125" y="1344350"/>
            <a:ext cx="4180500" cy="16395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0"/>
          <p:cNvSpPr/>
          <p:nvPr/>
        </p:nvSpPr>
        <p:spPr>
          <a:xfrm>
            <a:off x="10472849" y="160164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IA / Transcript</a:t>
            </a:r>
            <a:endParaRPr b="0" i="0" sz="2200" u="none" cap="none" strike="noStrike"/>
          </a:p>
        </p:txBody>
      </p:sp>
      <p:pic>
        <p:nvPicPr>
          <p:cNvPr id="476" name="Google Shape;476;p30" title="Capture d’écran 2026-02-05 à 11.06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7425" y="2077400"/>
            <a:ext cx="2130775" cy="643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0" title="Capture d’écran 2026-02-05 à 11.19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09350" y="2110500"/>
            <a:ext cx="1690325" cy="57679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0"/>
          <p:cNvSpPr/>
          <p:nvPr/>
        </p:nvSpPr>
        <p:spPr>
          <a:xfrm>
            <a:off x="793800" y="1344350"/>
            <a:ext cx="4050600" cy="16395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30" title="Capture d’écran 2026-01-29 à 15.00.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0"/>
          <p:cNvSpPr/>
          <p:nvPr/>
        </p:nvSpPr>
        <p:spPr>
          <a:xfrm>
            <a:off x="1218161" y="1601642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SIRH</a:t>
            </a:r>
            <a:endParaRPr b="0" i="0" sz="2200" u="none" cap="none" strike="noStrike"/>
          </a:p>
        </p:txBody>
      </p:sp>
      <p:pic>
        <p:nvPicPr>
          <p:cNvPr id="481" name="Google Shape;481;p30" title="Capture d’écran 2026-02-05 à 11.21.3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0860" y="2077388"/>
            <a:ext cx="1934075" cy="6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/>
          <p:nvPr/>
        </p:nvSpPr>
        <p:spPr>
          <a:xfrm>
            <a:off x="5418550" y="5229601"/>
            <a:ext cx="4196400" cy="17190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0"/>
          <p:cNvSpPr/>
          <p:nvPr/>
        </p:nvSpPr>
        <p:spPr>
          <a:xfrm>
            <a:off x="5711723" y="5430288"/>
            <a:ext cx="33162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Cvthèque AI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(</a:t>
            </a:r>
            <a:r>
              <a:rPr b="1" lang="en-US" sz="2200">
                <a:solidFill>
                  <a:schemeClr val="accent6"/>
                </a:solidFill>
                <a:latin typeface="Geist"/>
                <a:ea typeface="Geist"/>
                <a:cs typeface="Geist"/>
                <a:sym typeface="Geist"/>
              </a:rPr>
              <a:t>NEW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84" name="Google Shape;484;p30"/>
          <p:cNvSpPr/>
          <p:nvPr/>
        </p:nvSpPr>
        <p:spPr>
          <a:xfrm>
            <a:off x="10116175" y="3288275"/>
            <a:ext cx="4196400" cy="16395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10344899" y="3474867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Onboarding (</a:t>
            </a:r>
            <a:r>
              <a:rPr b="1" lang="en-US" sz="2200">
                <a:solidFill>
                  <a:schemeClr val="accent2"/>
                </a:solidFill>
                <a:latin typeface="Geist"/>
                <a:ea typeface="Geist"/>
                <a:cs typeface="Geist"/>
                <a:sym typeface="Geist"/>
              </a:rPr>
              <a:t>A venir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b="0" i="0" sz="2200" u="none" cap="none" strike="noStrike"/>
          </a:p>
        </p:txBody>
      </p:sp>
      <p:pic>
        <p:nvPicPr>
          <p:cNvPr id="486" name="Google Shape;486;p30" title="Capture d’écran 2026-02-05 à 11.24.0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09352" y="4016500"/>
            <a:ext cx="2477684" cy="6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0"/>
          <p:cNvSpPr/>
          <p:nvPr/>
        </p:nvSpPr>
        <p:spPr>
          <a:xfrm>
            <a:off x="720900" y="3228500"/>
            <a:ext cx="4196400" cy="17190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0"/>
          <p:cNvSpPr/>
          <p:nvPr/>
        </p:nvSpPr>
        <p:spPr>
          <a:xfrm>
            <a:off x="1218149" y="3432117"/>
            <a:ext cx="28353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CRM</a:t>
            </a:r>
            <a:endParaRPr b="0" i="0" sz="2200" u="none" cap="none" strike="noStrike"/>
          </a:p>
        </p:txBody>
      </p:sp>
      <p:sp>
        <p:nvSpPr>
          <p:cNvPr id="489" name="Google Shape;489;p30"/>
          <p:cNvSpPr/>
          <p:nvPr/>
        </p:nvSpPr>
        <p:spPr>
          <a:xfrm>
            <a:off x="793804" y="503275"/>
            <a:ext cx="77958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Catalogue Produits Externe</a:t>
            </a:r>
            <a:endParaRPr b="0" i="0" sz="4450" u="none" cap="none" strike="noStrike"/>
          </a:p>
        </p:txBody>
      </p:sp>
      <p:pic>
        <p:nvPicPr>
          <p:cNvPr id="490" name="Google Shape;49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0850" y="3923022"/>
            <a:ext cx="1262710" cy="710251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0"/>
          <p:cNvSpPr/>
          <p:nvPr/>
        </p:nvSpPr>
        <p:spPr>
          <a:xfrm>
            <a:off x="5418538" y="3255297"/>
            <a:ext cx="4196400" cy="17190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0"/>
          <p:cNvSpPr/>
          <p:nvPr/>
        </p:nvSpPr>
        <p:spPr>
          <a:xfrm>
            <a:off x="10116200" y="5186609"/>
            <a:ext cx="4196400" cy="17190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0"/>
          <p:cNvSpPr/>
          <p:nvPr/>
        </p:nvSpPr>
        <p:spPr>
          <a:xfrm>
            <a:off x="10472923" y="5432988"/>
            <a:ext cx="34305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Photos / Vidéos (</a:t>
            </a:r>
            <a:r>
              <a:rPr b="1" lang="en-US" sz="2200">
                <a:solidFill>
                  <a:schemeClr val="accent6"/>
                </a:solidFill>
                <a:latin typeface="Geist"/>
                <a:ea typeface="Geist"/>
                <a:cs typeface="Geist"/>
                <a:sym typeface="Geist"/>
              </a:rPr>
              <a:t>NEW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b="0" i="0" sz="2200" u="none" cap="none" strike="noStrike"/>
          </a:p>
        </p:txBody>
      </p:sp>
      <p:sp>
        <p:nvSpPr>
          <p:cNvPr id="494" name="Google Shape;494;p30"/>
          <p:cNvSpPr/>
          <p:nvPr/>
        </p:nvSpPr>
        <p:spPr>
          <a:xfrm>
            <a:off x="5845500" y="3415625"/>
            <a:ext cx="37281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Gestion Planning (</a:t>
            </a:r>
            <a:r>
              <a:rPr b="1" lang="en-US" sz="2200">
                <a:solidFill>
                  <a:schemeClr val="accent2"/>
                </a:solidFill>
                <a:latin typeface="Geist"/>
                <a:ea typeface="Geist"/>
                <a:cs typeface="Geist"/>
                <a:sym typeface="Geist"/>
              </a:rPr>
              <a:t>A venir</a:t>
            </a: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)</a:t>
            </a:r>
            <a:endParaRPr b="0" i="0" sz="2200" u="none" cap="none" strike="noStrike"/>
          </a:p>
        </p:txBody>
      </p:sp>
      <p:sp>
        <p:nvSpPr>
          <p:cNvPr id="495" name="Google Shape;495;p30"/>
          <p:cNvSpPr/>
          <p:nvPr/>
        </p:nvSpPr>
        <p:spPr>
          <a:xfrm>
            <a:off x="793800" y="7340325"/>
            <a:ext cx="13518900" cy="650100"/>
          </a:xfrm>
          <a:prstGeom prst="roundRect">
            <a:avLst>
              <a:gd fmla="val 4965" name="adj"/>
            </a:avLst>
          </a:prstGeom>
          <a:solidFill>
            <a:srgbClr val="101620">
              <a:alpha val="94900"/>
            </a:srgbClr>
          </a:solidFill>
          <a:ln cap="flat" cmpd="sng" w="30475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/>
          <p:nvPr/>
        </p:nvSpPr>
        <p:spPr>
          <a:xfrm>
            <a:off x="1116551" y="7471575"/>
            <a:ext cx="43020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Agences de communication RH</a:t>
            </a:r>
            <a:endParaRPr b="0" i="0" sz="2200" u="none" cap="none" strike="noStrike"/>
          </a:p>
        </p:txBody>
      </p:sp>
      <p:pic>
        <p:nvPicPr>
          <p:cNvPr descr="ajoute un fond blanc" id="497" name="Google Shape;497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20688" y="5982862"/>
            <a:ext cx="2020273" cy="7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37435" y="7458425"/>
            <a:ext cx="1002264" cy="3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73672" y="7419850"/>
            <a:ext cx="886153" cy="52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193800" y="7376975"/>
            <a:ext cx="1153600" cy="5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76825" y="3921146"/>
            <a:ext cx="1674416" cy="8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581375" y="7432688"/>
            <a:ext cx="600500" cy="44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0" title="Capture d’écran 2026-02-05 à 12.00.22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11725" y="5968800"/>
            <a:ext cx="2312400" cy="74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1"/>
          <p:cNvSpPr/>
          <p:nvPr/>
        </p:nvSpPr>
        <p:spPr>
          <a:xfrm>
            <a:off x="710185" y="408208"/>
            <a:ext cx="1175700" cy="371700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1"/>
          <p:cNvSpPr/>
          <p:nvPr/>
        </p:nvSpPr>
        <p:spPr>
          <a:xfrm>
            <a:off x="842953" y="491012"/>
            <a:ext cx="9036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lang="en-US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METHODE</a:t>
            </a:r>
            <a:endParaRPr b="0" i="0" sz="1400" u="none" cap="none" strike="noStrike"/>
          </a:p>
        </p:txBody>
      </p:sp>
      <p:sp>
        <p:nvSpPr>
          <p:cNvPr id="511" name="Google Shape;511;p31"/>
          <p:cNvSpPr/>
          <p:nvPr/>
        </p:nvSpPr>
        <p:spPr>
          <a:xfrm>
            <a:off x="706875" y="885575"/>
            <a:ext cx="12144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Poppins Black"/>
              <a:buNone/>
            </a:pPr>
            <a:r>
              <a:rPr lang="en-US" sz="4200">
                <a:solidFill>
                  <a:schemeClr val="lt1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Une offre adaptée à chaque organisation !</a:t>
            </a:r>
            <a:endParaRPr sz="4200">
              <a:solidFill>
                <a:schemeClr val="lt1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t/>
            </a:r>
            <a:endParaRPr b="1" sz="3400">
              <a:solidFill>
                <a:schemeClr val="lt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12" name="Google Shape;512;p31"/>
          <p:cNvSpPr/>
          <p:nvPr/>
        </p:nvSpPr>
        <p:spPr>
          <a:xfrm>
            <a:off x="2423149" y="2212120"/>
            <a:ext cx="4885200" cy="96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Socle </a:t>
            </a:r>
            <a:r>
              <a:rPr lang="en-US" sz="2200" u="sng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fonctionnel</a:t>
            </a:r>
            <a:endParaRPr sz="2200" u="sng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13" name="Google Shape;513;p31"/>
          <p:cNvSpPr/>
          <p:nvPr/>
        </p:nvSpPr>
        <p:spPr>
          <a:xfrm>
            <a:off x="2423153" y="3379950"/>
            <a:ext cx="10789800" cy="994200"/>
          </a:xfrm>
          <a:prstGeom prst="roundRect">
            <a:avLst>
              <a:gd fmla="val 15438" name="adj"/>
            </a:avLst>
          </a:prstGeom>
          <a:solidFill>
            <a:srgbClr val="01AEC8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Packs Stratégiques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8366950" y="2182400"/>
            <a:ext cx="48459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Consommation à l’usage</a:t>
            </a:r>
            <a:endParaRPr b="1" sz="2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" name="Google Shape;515;p31"/>
          <p:cNvSpPr/>
          <p:nvPr/>
        </p:nvSpPr>
        <p:spPr>
          <a:xfrm>
            <a:off x="2538875" y="6460550"/>
            <a:ext cx="10674000" cy="994200"/>
          </a:xfrm>
          <a:prstGeom prst="roundRect">
            <a:avLst>
              <a:gd fmla="val 15438" name="adj"/>
            </a:avLst>
          </a:prstGeom>
          <a:solidFill>
            <a:srgbClr val="002A80"/>
          </a:solidFill>
          <a:ln cap="flat" cmpd="sng" w="152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Catalogue Produits</a:t>
            </a:r>
            <a:endParaRPr sz="22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(Imports, Atelier de formation, SIRH, Tests de personnalité, Sourcing, Data,  …)</a:t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6" name="Google Shape;516;p31"/>
          <p:cNvSpPr txBox="1"/>
          <p:nvPr/>
        </p:nvSpPr>
        <p:spPr>
          <a:xfrm>
            <a:off x="7589595" y="2256050"/>
            <a:ext cx="456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7514555" y="5735293"/>
            <a:ext cx="6072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endParaRPr b="1" sz="3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8" name="Google Shape;518;p31"/>
          <p:cNvSpPr/>
          <p:nvPr/>
        </p:nvSpPr>
        <p:spPr>
          <a:xfrm>
            <a:off x="2538875" y="4705475"/>
            <a:ext cx="33159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Scaling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Accélérez vos recrutements avec l’IA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" name="Google Shape;519;p31"/>
          <p:cNvSpPr/>
          <p:nvPr/>
        </p:nvSpPr>
        <p:spPr>
          <a:xfrm>
            <a:off x="6098750" y="4719850"/>
            <a:ext cx="34386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Entreprise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Sécurité, conformité et gouvernance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20" name="Google Shape;520;p31" title="Kakemono Vie professionnelle en Orange pastel Corail Style Simple et Mininaliste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1261" y="-774960"/>
            <a:ext cx="3499992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31"/>
          <p:cNvSpPr/>
          <p:nvPr/>
        </p:nvSpPr>
        <p:spPr>
          <a:xfrm>
            <a:off x="9980525" y="4705475"/>
            <a:ext cx="3232500" cy="1104900"/>
          </a:xfrm>
          <a:prstGeom prst="roundRect">
            <a:avLst>
              <a:gd fmla="val 9305" name="adj"/>
            </a:avLst>
          </a:prstGeom>
          <a:solidFill>
            <a:srgbClr val="2430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Multi-entités</a:t>
            </a:r>
            <a:endParaRPr b="1" sz="2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Pilotage RH décentralisé</a:t>
            </a:r>
            <a:endParaRPr sz="1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22" name="Google Shape;522;p31"/>
          <p:cNvCxnSpPr>
            <a:stCxn id="513" idx="2"/>
            <a:endCxn id="518" idx="0"/>
          </p:cNvCxnSpPr>
          <p:nvPr/>
        </p:nvCxnSpPr>
        <p:spPr>
          <a:xfrm flipH="1">
            <a:off x="4196753" y="4374150"/>
            <a:ext cx="3621300" cy="3312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31"/>
          <p:cNvCxnSpPr>
            <a:stCxn id="513" idx="2"/>
            <a:endCxn id="519" idx="0"/>
          </p:cNvCxnSpPr>
          <p:nvPr/>
        </p:nvCxnSpPr>
        <p:spPr>
          <a:xfrm>
            <a:off x="7818053" y="4374150"/>
            <a:ext cx="0" cy="3456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31"/>
          <p:cNvCxnSpPr>
            <a:stCxn id="513" idx="2"/>
            <a:endCxn id="521" idx="0"/>
          </p:cNvCxnSpPr>
          <p:nvPr/>
        </p:nvCxnSpPr>
        <p:spPr>
          <a:xfrm>
            <a:off x="7818053" y="4374150"/>
            <a:ext cx="3778800" cy="331200"/>
          </a:xfrm>
          <a:prstGeom prst="straightConnector1">
            <a:avLst/>
          </a:prstGeom>
          <a:noFill/>
          <a:ln cap="flat" cmpd="sng" w="15250">
            <a:solidFill>
              <a:srgbClr val="01AEC8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25" name="Google Shape;525;p31" title="Capture d’écran 2026-01-29 à 15.00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/>
          <p:nvPr/>
        </p:nvSpPr>
        <p:spPr>
          <a:xfrm>
            <a:off x="793790" y="1306235"/>
            <a:ext cx="1984200" cy="371700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2" name="Google Shape;53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878" y="1401366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2"/>
          <p:cNvSpPr/>
          <p:nvPr/>
        </p:nvSpPr>
        <p:spPr>
          <a:xfrm>
            <a:off x="1202055" y="1374219"/>
            <a:ext cx="14397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DÉCISIONS CLÉS</a:t>
            </a:r>
            <a:endParaRPr b="0" i="0" sz="1400" u="none" cap="none" strike="noStrike"/>
          </a:p>
        </p:txBody>
      </p:sp>
      <p:sp>
        <p:nvSpPr>
          <p:cNvPr id="534" name="Google Shape;534;p32"/>
          <p:cNvSpPr/>
          <p:nvPr/>
        </p:nvSpPr>
        <p:spPr>
          <a:xfrm>
            <a:off x="793799" y="1768800"/>
            <a:ext cx="122967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Règles de négociation commerciale 2026</a:t>
            </a:r>
            <a:endParaRPr b="0" i="0" sz="4450" u="none" cap="none" strike="noStrike"/>
          </a:p>
        </p:txBody>
      </p:sp>
      <p:grpSp>
        <p:nvGrpSpPr>
          <p:cNvPr id="535" name="Google Shape;535;p32"/>
          <p:cNvGrpSpPr/>
          <p:nvPr/>
        </p:nvGrpSpPr>
        <p:grpSpPr>
          <a:xfrm>
            <a:off x="793800" y="2846081"/>
            <a:ext cx="4196400" cy="4872900"/>
            <a:chOff x="793800" y="2846081"/>
            <a:chExt cx="4196400" cy="4872900"/>
          </a:xfrm>
        </p:grpSpPr>
        <p:sp>
          <p:nvSpPr>
            <p:cNvPr id="536" name="Google Shape;536;p32"/>
            <p:cNvSpPr/>
            <p:nvPr/>
          </p:nvSpPr>
          <p:spPr>
            <a:xfrm>
              <a:off x="793800" y="2846081"/>
              <a:ext cx="4196400" cy="4872900"/>
            </a:xfrm>
            <a:prstGeom prst="roundRect">
              <a:avLst>
                <a:gd fmla="val 4221" name="adj"/>
              </a:avLst>
            </a:prstGeom>
            <a:solidFill>
              <a:srgbClr val="101620"/>
            </a:solidFill>
            <a:ln cap="flat" cmpd="sng" w="2285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2"/>
            <p:cNvSpPr/>
            <p:nvPr/>
          </p:nvSpPr>
          <p:spPr>
            <a:xfrm>
              <a:off x="1043464" y="3095744"/>
              <a:ext cx="3069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Prix</a:t>
              </a:r>
              <a:endParaRPr b="0" i="0" sz="2200" u="none" cap="none" strike="noStrike"/>
            </a:p>
          </p:txBody>
        </p:sp>
        <p:sp>
          <p:nvSpPr>
            <p:cNvPr id="538" name="Google Shape;538;p32"/>
            <p:cNvSpPr/>
            <p:nvPr/>
          </p:nvSpPr>
          <p:spPr>
            <a:xfrm>
              <a:off x="1043589" y="3832844"/>
              <a:ext cx="3696900" cy="8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Possibilité de réduire le nombre d’employés de 1 cran (&lt; base) *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sp>
          <p:nvSpPr>
            <p:cNvPr id="539" name="Google Shape;539;p32"/>
            <p:cNvSpPr/>
            <p:nvPr/>
          </p:nvSpPr>
          <p:spPr>
            <a:xfrm>
              <a:off x="1043600" y="4717247"/>
              <a:ext cx="3696900" cy="25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b="1" lang="en-US" sz="1750" u="sng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Réduction </a:t>
              </a:r>
              <a:r>
                <a:rPr b="1" lang="en-US" sz="1750" u="sng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20%</a:t>
              </a: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maximum 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(base, crédit, pack) </a:t>
              </a:r>
              <a:b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</a:b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Réduction supplémentaire possible par validation du manager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t/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Réduction 50% si association</a:t>
              </a:r>
              <a:b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</a:b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(loi 1901)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540" name="Google Shape;540;p32"/>
          <p:cNvGrpSpPr/>
          <p:nvPr/>
        </p:nvGrpSpPr>
        <p:grpSpPr>
          <a:xfrm>
            <a:off x="5216950" y="2846081"/>
            <a:ext cx="4196400" cy="4872900"/>
            <a:chOff x="5216950" y="2846081"/>
            <a:chExt cx="4196400" cy="4872900"/>
          </a:xfrm>
        </p:grpSpPr>
        <p:sp>
          <p:nvSpPr>
            <p:cNvPr id="541" name="Google Shape;541;p32"/>
            <p:cNvSpPr/>
            <p:nvPr/>
          </p:nvSpPr>
          <p:spPr>
            <a:xfrm>
              <a:off x="5216950" y="2846081"/>
              <a:ext cx="4196400" cy="4872900"/>
            </a:xfrm>
            <a:prstGeom prst="roundRect">
              <a:avLst>
                <a:gd fmla="val 4221" name="adj"/>
              </a:avLst>
            </a:prstGeom>
            <a:solidFill>
              <a:srgbClr val="101620"/>
            </a:solidFill>
            <a:ln cap="flat" cmpd="sng" w="2285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2"/>
            <p:cNvSpPr/>
            <p:nvPr/>
          </p:nvSpPr>
          <p:spPr>
            <a:xfrm>
              <a:off x="5466636" y="3095744"/>
              <a:ext cx="28353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Temps</a:t>
              </a:r>
              <a:endParaRPr b="0" i="0" sz="2200" u="none" cap="none" strike="noStrike"/>
            </a:p>
          </p:txBody>
        </p:sp>
        <p:sp>
          <p:nvSpPr>
            <p:cNvPr id="543" name="Google Shape;543;p32"/>
            <p:cNvSpPr/>
            <p:nvPr/>
          </p:nvSpPr>
          <p:spPr>
            <a:xfrm>
              <a:off x="5411289" y="3894044"/>
              <a:ext cx="3696900" cy="8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Possibilité d’offrir les 6 premiers mois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  <p:sp>
          <p:nvSpPr>
            <p:cNvPr id="544" name="Google Shape;544;p32"/>
            <p:cNvSpPr/>
            <p:nvPr/>
          </p:nvSpPr>
          <p:spPr>
            <a:xfrm>
              <a:off x="5411302" y="4778444"/>
              <a:ext cx="3696900" cy="88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Aménagement de paiement (trimestriel, semestriel, annuel)</a:t>
              </a:r>
              <a:endParaRPr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endParaRPr>
            </a:p>
          </p:txBody>
        </p:sp>
      </p:grpSp>
      <p:grpSp>
        <p:nvGrpSpPr>
          <p:cNvPr id="545" name="Google Shape;545;p32"/>
          <p:cNvGrpSpPr/>
          <p:nvPr/>
        </p:nvGrpSpPr>
        <p:grpSpPr>
          <a:xfrm>
            <a:off x="9640125" y="2846081"/>
            <a:ext cx="4196400" cy="4872900"/>
            <a:chOff x="9640125" y="2846081"/>
            <a:chExt cx="4196400" cy="4872900"/>
          </a:xfrm>
        </p:grpSpPr>
        <p:sp>
          <p:nvSpPr>
            <p:cNvPr id="546" name="Google Shape;546;p32"/>
            <p:cNvSpPr/>
            <p:nvPr/>
          </p:nvSpPr>
          <p:spPr>
            <a:xfrm>
              <a:off x="9640125" y="2846081"/>
              <a:ext cx="4196400" cy="4872900"/>
            </a:xfrm>
            <a:prstGeom prst="roundRect">
              <a:avLst>
                <a:gd fmla="val 4221" name="adj"/>
              </a:avLst>
            </a:prstGeom>
            <a:solidFill>
              <a:srgbClr val="101620"/>
            </a:solidFill>
            <a:ln cap="flat" cmpd="sng" w="2285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2"/>
            <p:cNvSpPr/>
            <p:nvPr/>
          </p:nvSpPr>
          <p:spPr>
            <a:xfrm>
              <a:off x="9889808" y="3095744"/>
              <a:ext cx="36969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Prestation offerte</a:t>
              </a:r>
              <a:endParaRPr b="0" i="0" sz="2200" u="none" cap="none" strike="noStrike"/>
            </a:p>
          </p:txBody>
        </p:sp>
        <p:sp>
          <p:nvSpPr>
            <p:cNvPr id="548" name="Google Shape;548;p32"/>
            <p:cNvSpPr/>
            <p:nvPr/>
          </p:nvSpPr>
          <p:spPr>
            <a:xfrm>
              <a:off x="9889800" y="3832852"/>
              <a:ext cx="3696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Accompagnement Atelier CSM</a:t>
              </a:r>
              <a:endParaRPr b="0" i="0" sz="1750" u="none" cap="none" strike="noStrike"/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9889800" y="4348700"/>
              <a:ext cx="3696900" cy="7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Préparation</a:t>
              </a: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 Site Carrière (Photos, Vidéos, Marque Employeur)</a:t>
              </a:r>
              <a:b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</a:br>
              <a:endParaRPr b="0" i="0" sz="1750" u="none" cap="none" strike="noStrike"/>
            </a:p>
          </p:txBody>
        </p:sp>
        <p:sp>
          <p:nvSpPr>
            <p:cNvPr id="550" name="Google Shape;550;p32"/>
            <p:cNvSpPr/>
            <p:nvPr/>
          </p:nvSpPr>
          <p:spPr>
            <a:xfrm>
              <a:off x="9889800" y="5233252"/>
              <a:ext cx="36969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Importation de la base existante</a:t>
              </a:r>
              <a:endParaRPr b="0" i="0" sz="1750" u="none" cap="none" strike="noStrike"/>
            </a:p>
          </p:txBody>
        </p:sp>
      </p:grpSp>
      <p:pic>
        <p:nvPicPr>
          <p:cNvPr id="551" name="Google Shape;551;p32" title="Capture d’écran 2026-01-29 à 15.00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21375" y="7718975"/>
            <a:ext cx="1729475" cy="4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2"/>
          <p:cNvSpPr/>
          <p:nvPr/>
        </p:nvSpPr>
        <p:spPr>
          <a:xfrm>
            <a:off x="793800" y="7763800"/>
            <a:ext cx="69834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*Limité à la 1ère année</a:t>
            </a:r>
            <a:endParaRPr b="0" i="0" sz="1450" u="none" cap="none" strike="noStrike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8" name="Google Shape;5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97692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3"/>
          <p:cNvSpPr/>
          <p:nvPr/>
        </p:nvSpPr>
        <p:spPr>
          <a:xfrm>
            <a:off x="793790" y="3642836"/>
            <a:ext cx="1235154" cy="371832"/>
          </a:xfrm>
          <a:prstGeom prst="roundRect">
            <a:avLst>
              <a:gd fmla="val 20497" name="adj"/>
            </a:avLst>
          </a:prstGeom>
          <a:solidFill>
            <a:srgbClr val="0019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3"/>
          <p:cNvSpPr/>
          <p:nvPr/>
        </p:nvSpPr>
        <p:spPr>
          <a:xfrm>
            <a:off x="929878" y="3710821"/>
            <a:ext cx="962978" cy="23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400"/>
              <a:buFont typeface="Geist"/>
              <a:buNone/>
            </a:pPr>
            <a:r>
              <a:rPr b="0" i="0" lang="en-US" sz="14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OBJECTIFS</a:t>
            </a:r>
            <a:endParaRPr b="0" i="0" sz="1400" u="none" cap="none" strike="noStrike"/>
          </a:p>
        </p:txBody>
      </p:sp>
      <p:sp>
        <p:nvSpPr>
          <p:cNvPr id="561" name="Google Shape;561;p33"/>
          <p:cNvSpPr/>
          <p:nvPr/>
        </p:nvSpPr>
        <p:spPr>
          <a:xfrm>
            <a:off x="793790" y="4105394"/>
            <a:ext cx="8035171" cy="737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Critères de succès pour la V1</a:t>
            </a:r>
            <a:endParaRPr b="0" i="0" sz="4450" u="none" cap="none" strike="noStrike"/>
          </a:p>
        </p:txBody>
      </p:sp>
      <p:sp>
        <p:nvSpPr>
          <p:cNvPr id="562" name="Google Shape;562;p33"/>
          <p:cNvSpPr/>
          <p:nvPr/>
        </p:nvSpPr>
        <p:spPr>
          <a:xfrm>
            <a:off x="793790" y="5296019"/>
            <a:ext cx="6379607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5850"/>
              <a:buFont typeface="Geist"/>
              <a:buNone/>
            </a:pPr>
            <a:r>
              <a:rPr b="1" i="0" lang="en-US" sz="5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1</a:t>
            </a:r>
            <a:endParaRPr b="0" i="0" sz="5850" u="none" cap="none" strike="noStrike"/>
          </a:p>
        </p:txBody>
      </p:sp>
      <p:sp>
        <p:nvSpPr>
          <p:cNvPr id="563" name="Google Shape;563;p33"/>
          <p:cNvSpPr/>
          <p:nvPr/>
        </p:nvSpPr>
        <p:spPr>
          <a:xfrm>
            <a:off x="2192179" y="6327815"/>
            <a:ext cx="3582710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Réduction des exceptions</a:t>
            </a:r>
            <a:endParaRPr b="0" i="0" sz="2200" u="none" cap="none" strike="noStrike"/>
          </a:p>
        </p:txBody>
      </p:sp>
      <p:sp>
        <p:nvSpPr>
          <p:cNvPr id="564" name="Google Shape;564;p33"/>
          <p:cNvSpPr/>
          <p:nvPr/>
        </p:nvSpPr>
        <p:spPr>
          <a:xfrm>
            <a:off x="793790" y="6832402"/>
            <a:ext cx="6379607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Diminution mesurable du nombre de cas nécessitant une approbation managériale ou une adaptation contractuelle.</a:t>
            </a:r>
            <a:endParaRPr b="0" i="0" sz="1750" u="none" cap="none" strike="noStrike"/>
          </a:p>
        </p:txBody>
      </p:sp>
      <p:sp>
        <p:nvSpPr>
          <p:cNvPr id="565" name="Google Shape;565;p33"/>
          <p:cNvSpPr/>
          <p:nvPr/>
        </p:nvSpPr>
        <p:spPr>
          <a:xfrm>
            <a:off x="7456884" y="5296019"/>
            <a:ext cx="6379726" cy="748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5850"/>
              <a:buFont typeface="Geist"/>
              <a:buNone/>
            </a:pPr>
            <a:r>
              <a:rPr b="1" i="0" lang="en-US" sz="58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5850" u="none" cap="none" strike="noStrike"/>
          </a:p>
        </p:txBody>
      </p:sp>
      <p:sp>
        <p:nvSpPr>
          <p:cNvPr id="566" name="Google Shape;566;p33"/>
          <p:cNvSpPr/>
          <p:nvPr/>
        </p:nvSpPr>
        <p:spPr>
          <a:xfrm>
            <a:off x="8926949" y="6327815"/>
            <a:ext cx="3439597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i="0" lang="en-US" sz="220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Augmentation de l'upsell</a:t>
            </a:r>
            <a:endParaRPr b="0" i="0" sz="2200" u="none" cap="none" strike="noStrike"/>
          </a:p>
        </p:txBody>
      </p:sp>
      <p:sp>
        <p:nvSpPr>
          <p:cNvPr id="567" name="Google Shape;567;p33"/>
          <p:cNvSpPr/>
          <p:nvPr/>
        </p:nvSpPr>
        <p:spPr>
          <a:xfrm>
            <a:off x="7456884" y="6832402"/>
            <a:ext cx="637972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Croissance du taux de clients évoluant vers un pack supérieur ou achetant des crédits additionnels.</a:t>
            </a:r>
            <a:endParaRPr b="0" i="0" sz="1750" u="none" cap="none" strike="noStrike"/>
          </a:p>
        </p:txBody>
      </p:sp>
      <p:pic>
        <p:nvPicPr>
          <p:cNvPr id="568" name="Google Shape;568;p33" title="Capture d’écran 2026-01-29 à 15.00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4"/>
          <p:cNvSpPr/>
          <p:nvPr/>
        </p:nvSpPr>
        <p:spPr>
          <a:xfrm>
            <a:off x="793790" y="785574"/>
            <a:ext cx="56706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Les oubliés </a:t>
            </a: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… </a:t>
            </a:r>
            <a:r>
              <a:rPr b="1" lang="en-US" sz="27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ou pas</a:t>
            </a:r>
            <a:endParaRPr b="0" i="0" sz="2750" u="none" cap="none" strike="noStrike"/>
          </a:p>
        </p:txBody>
      </p:sp>
      <p:sp>
        <p:nvSpPr>
          <p:cNvPr id="575" name="Google Shape;575;p34"/>
          <p:cNvSpPr/>
          <p:nvPr/>
        </p:nvSpPr>
        <p:spPr>
          <a:xfrm>
            <a:off x="1133951" y="6893957"/>
            <a:ext cx="127026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On garde un cap sur la roadmap avec une accélération des fonctionnalités liés au strategic en H2</a:t>
            </a:r>
            <a:endParaRPr b="0" i="0" sz="1750" u="none" cap="none" strike="noStrike"/>
          </a:p>
        </p:txBody>
      </p:sp>
      <p:sp>
        <p:nvSpPr>
          <p:cNvPr id="576" name="Google Shape;576;p34"/>
          <p:cNvSpPr/>
          <p:nvPr/>
        </p:nvSpPr>
        <p:spPr>
          <a:xfrm>
            <a:off x="793790" y="6638806"/>
            <a:ext cx="30600" cy="805200"/>
          </a:xfrm>
          <a:prstGeom prst="rect">
            <a:avLst/>
          </a:prstGeom>
          <a:solidFill>
            <a:srgbClr val="629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7" name="Google Shape;577;p34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8" name="Google Shape;578;p34"/>
          <p:cNvGrpSpPr/>
          <p:nvPr/>
        </p:nvGrpSpPr>
        <p:grpSpPr>
          <a:xfrm>
            <a:off x="2029700" y="1598408"/>
            <a:ext cx="3907800" cy="4782655"/>
            <a:chOff x="2029700" y="1598408"/>
            <a:chExt cx="3907800" cy="4782655"/>
          </a:xfrm>
        </p:grpSpPr>
        <p:sp>
          <p:nvSpPr>
            <p:cNvPr id="579" name="Google Shape;579;p34"/>
            <p:cNvSpPr/>
            <p:nvPr/>
          </p:nvSpPr>
          <p:spPr>
            <a:xfrm>
              <a:off x="3813512" y="1632460"/>
              <a:ext cx="3402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650"/>
                <a:buFont typeface="Geist"/>
                <a:buNone/>
              </a:pPr>
              <a:r>
                <a:rPr b="1" i="0" lang="en-US" sz="265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1</a:t>
              </a:r>
              <a:endParaRPr b="0" i="0" sz="2650" u="none" cap="none" strike="noStrike"/>
            </a:p>
          </p:txBody>
        </p:sp>
        <p:grpSp>
          <p:nvGrpSpPr>
            <p:cNvPr id="580" name="Google Shape;580;p34"/>
            <p:cNvGrpSpPr/>
            <p:nvPr/>
          </p:nvGrpSpPr>
          <p:grpSpPr>
            <a:xfrm>
              <a:off x="2029700" y="1598408"/>
              <a:ext cx="3907800" cy="4782655"/>
              <a:chOff x="2029700" y="1598408"/>
              <a:chExt cx="3907800" cy="4782655"/>
            </a:xfrm>
          </p:grpSpPr>
          <p:sp>
            <p:nvSpPr>
              <p:cNvPr id="581" name="Google Shape;581;p34"/>
              <p:cNvSpPr/>
              <p:nvPr/>
            </p:nvSpPr>
            <p:spPr>
              <a:xfrm>
                <a:off x="3968303" y="1853542"/>
                <a:ext cx="30600" cy="680400"/>
              </a:xfrm>
              <a:prstGeom prst="roundRect">
                <a:avLst>
                  <a:gd fmla="val 312558" name="adj"/>
                </a:avLst>
              </a:prstGeom>
              <a:solidFill>
                <a:srgbClr val="002A8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34"/>
              <p:cNvSpPr/>
              <p:nvPr/>
            </p:nvSpPr>
            <p:spPr>
              <a:xfrm>
                <a:off x="3728442" y="1598408"/>
                <a:ext cx="510300" cy="510300"/>
              </a:xfrm>
              <a:prstGeom prst="roundRect">
                <a:avLst>
                  <a:gd fmla="val 18669" name="adj"/>
                </a:avLst>
              </a:prstGeom>
              <a:solidFill>
                <a:srgbClr val="101620"/>
              </a:solidFill>
              <a:ln cap="flat" cmpd="sng" w="22850">
                <a:solidFill>
                  <a:srgbClr val="002A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EBEDF0"/>
                  </a:buClr>
                  <a:buSzPts val="2650"/>
                  <a:buFont typeface="Geist"/>
                  <a:buNone/>
                </a:pPr>
                <a:r>
                  <a:rPr b="1" lang="en-US" sz="2650">
                    <a:solidFill>
                      <a:srgbClr val="EBEDF0"/>
                    </a:solidFill>
                    <a:latin typeface="Geist"/>
                    <a:ea typeface="Geist"/>
                    <a:cs typeface="Geist"/>
                    <a:sym typeface="Geist"/>
                  </a:rPr>
                  <a:t>1</a:t>
                </a: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583" name="Google Shape;583;p34"/>
              <p:cNvSpPr/>
              <p:nvPr/>
            </p:nvSpPr>
            <p:spPr>
              <a:xfrm>
                <a:off x="2451200" y="5330888"/>
                <a:ext cx="3064800" cy="36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3181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BEDF0"/>
                  </a:buClr>
                  <a:buSzPts val="2200"/>
                  <a:buFont typeface="Geist"/>
                  <a:buNone/>
                </a:pPr>
                <a:r>
                  <a:rPr b="1" lang="en-US" sz="2200">
                    <a:solidFill>
                      <a:srgbClr val="EBEDF0"/>
                    </a:solidFill>
                    <a:latin typeface="Geist"/>
                    <a:ea typeface="Geist"/>
                    <a:cs typeface="Geist"/>
                    <a:sym typeface="Geist"/>
                  </a:rPr>
                  <a:t>Application Mobile</a:t>
                </a:r>
                <a:endParaRPr b="0" i="0" sz="2200" u="none" cap="none" strike="noStrike"/>
              </a:p>
            </p:txBody>
          </p:sp>
          <p:sp>
            <p:nvSpPr>
              <p:cNvPr id="584" name="Google Shape;584;p34"/>
              <p:cNvSpPr/>
              <p:nvPr/>
            </p:nvSpPr>
            <p:spPr>
              <a:xfrm>
                <a:off x="2029700" y="5791563"/>
                <a:ext cx="3907800" cy="58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3142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BEDF0"/>
                  </a:buClr>
                  <a:buSzPts val="1750"/>
                  <a:buFont typeface="Geist"/>
                  <a:buNone/>
                </a:pPr>
                <a:r>
                  <a:rPr lang="en-US" sz="1750">
                    <a:solidFill>
                      <a:srgbClr val="EBEDF0"/>
                    </a:solidFill>
                    <a:latin typeface="Geist"/>
                    <a:ea typeface="Geist"/>
                    <a:cs typeface="Geist"/>
                    <a:sym typeface="Geist"/>
                  </a:rPr>
                  <a:t>Refonte planifié sur Q3</a:t>
                </a:r>
                <a:br>
                  <a:rPr lang="en-US" sz="1750">
                    <a:solidFill>
                      <a:srgbClr val="EBEDF0"/>
                    </a:solidFill>
                    <a:latin typeface="Geist"/>
                    <a:ea typeface="Geist"/>
                    <a:cs typeface="Geist"/>
                    <a:sym typeface="Geist"/>
                  </a:rPr>
                </a:br>
                <a:r>
                  <a:rPr lang="en-US" sz="1750">
                    <a:solidFill>
                      <a:srgbClr val="EBEDF0"/>
                    </a:solidFill>
                    <a:latin typeface="Geist"/>
                    <a:ea typeface="Geist"/>
                    <a:cs typeface="Geist"/>
                    <a:sym typeface="Geist"/>
                  </a:rPr>
                  <a:t>Analyse en cours des besoins</a:t>
                </a:r>
                <a:endParaRPr b="0" i="0" sz="1750" u="none" cap="none" strike="noStrike"/>
              </a:p>
            </p:txBody>
          </p:sp>
          <p:pic>
            <p:nvPicPr>
              <p:cNvPr id="585" name="Google Shape;585;p3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656500" y="2752974"/>
                <a:ext cx="2448251" cy="2525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86" name="Google Shape;586;p34"/>
          <p:cNvGrpSpPr/>
          <p:nvPr/>
        </p:nvGrpSpPr>
        <p:grpSpPr>
          <a:xfrm>
            <a:off x="5622250" y="1624983"/>
            <a:ext cx="3726000" cy="4715992"/>
            <a:chOff x="5622250" y="1624983"/>
            <a:chExt cx="3726000" cy="4715992"/>
          </a:xfrm>
        </p:grpSpPr>
        <p:sp>
          <p:nvSpPr>
            <p:cNvPr id="587" name="Google Shape;587;p34"/>
            <p:cNvSpPr/>
            <p:nvPr/>
          </p:nvSpPr>
          <p:spPr>
            <a:xfrm>
              <a:off x="7470016" y="1880134"/>
              <a:ext cx="30600" cy="680400"/>
            </a:xfrm>
            <a:prstGeom prst="roundRect">
              <a:avLst>
                <a:gd fmla="val 312558" name="adj"/>
              </a:avLst>
            </a:prstGeom>
            <a:solidFill>
              <a:srgbClr val="002A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7230105" y="1624983"/>
              <a:ext cx="510300" cy="510300"/>
            </a:xfrm>
            <a:prstGeom prst="roundRect">
              <a:avLst>
                <a:gd fmla="val 18669" name="adj"/>
              </a:avLst>
            </a:prstGeom>
            <a:solidFill>
              <a:srgbClr val="101620"/>
            </a:solidFill>
            <a:ln cap="flat" cmpd="sng" w="2285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7315175" y="1659035"/>
              <a:ext cx="3402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650"/>
                <a:buFont typeface="Geist"/>
                <a:buNone/>
              </a:pPr>
              <a:r>
                <a:rPr b="1" i="0" lang="en-US" sz="265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2</a:t>
              </a:r>
              <a:endParaRPr b="0" i="0" sz="2650" u="none" cap="none" strike="noStrike"/>
            </a:p>
          </p:txBody>
        </p:sp>
        <p:pic>
          <p:nvPicPr>
            <p:cNvPr id="590" name="Google Shape;590;p3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94974" y="2672822"/>
              <a:ext cx="2780563" cy="2525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34"/>
            <p:cNvSpPr/>
            <p:nvPr/>
          </p:nvSpPr>
          <p:spPr>
            <a:xfrm>
              <a:off x="6095050" y="5330900"/>
              <a:ext cx="27804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Flatchr GO</a:t>
              </a:r>
              <a:endParaRPr b="0" i="0" sz="2200" u="none" cap="none" strike="noStrike"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5622250" y="5751475"/>
              <a:ext cx="37260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Partenaire Externe identifié</a:t>
              </a:r>
              <a:b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</a:b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Négociation en cours</a:t>
              </a:r>
              <a:endParaRPr b="0" i="0" sz="1750" u="none" cap="none" strike="noStrike"/>
            </a:p>
          </p:txBody>
        </p:sp>
      </p:grpSp>
      <p:grpSp>
        <p:nvGrpSpPr>
          <p:cNvPr id="593" name="Google Shape;593;p34"/>
          <p:cNvGrpSpPr/>
          <p:nvPr/>
        </p:nvGrpSpPr>
        <p:grpSpPr>
          <a:xfrm>
            <a:off x="9240575" y="1598408"/>
            <a:ext cx="3726000" cy="4749330"/>
            <a:chOff x="9240575" y="1598408"/>
            <a:chExt cx="3726000" cy="4749330"/>
          </a:xfrm>
        </p:grpSpPr>
        <p:sp>
          <p:nvSpPr>
            <p:cNvPr id="594" name="Google Shape;594;p34"/>
            <p:cNvSpPr/>
            <p:nvPr/>
          </p:nvSpPr>
          <p:spPr>
            <a:xfrm>
              <a:off x="11088123" y="1853542"/>
              <a:ext cx="30600" cy="680400"/>
            </a:xfrm>
            <a:prstGeom prst="roundRect">
              <a:avLst>
                <a:gd fmla="val 312558" name="adj"/>
              </a:avLst>
            </a:prstGeom>
            <a:solidFill>
              <a:srgbClr val="002A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10848412" y="1598408"/>
              <a:ext cx="510300" cy="510300"/>
            </a:xfrm>
            <a:prstGeom prst="roundRect">
              <a:avLst>
                <a:gd fmla="val 18669" name="adj"/>
              </a:avLst>
            </a:prstGeom>
            <a:solidFill>
              <a:srgbClr val="101620"/>
            </a:solidFill>
            <a:ln cap="flat" cmpd="sng" w="22850">
              <a:solidFill>
                <a:srgbClr val="002A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10933482" y="1632460"/>
              <a:ext cx="3402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650"/>
                <a:buFont typeface="Geist"/>
                <a:buNone/>
              </a:pPr>
              <a:r>
                <a:rPr b="1" i="0" lang="en-US" sz="2650" u="none" cap="none" strike="noStrike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3</a:t>
              </a:r>
              <a:endParaRPr b="0" i="0" sz="2650" u="none" cap="none" strike="noStrike"/>
            </a:p>
          </p:txBody>
        </p:sp>
        <p:pic>
          <p:nvPicPr>
            <p:cNvPr id="597" name="Google Shape;597;p3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500650" y="2686347"/>
              <a:ext cx="3205797" cy="2525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34"/>
            <p:cNvSpPr/>
            <p:nvPr/>
          </p:nvSpPr>
          <p:spPr>
            <a:xfrm>
              <a:off x="9641525" y="5300950"/>
              <a:ext cx="3064800" cy="3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181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2200"/>
                <a:buFont typeface="Geist"/>
                <a:buNone/>
              </a:pPr>
              <a:r>
                <a:rPr b="1" lang="en-US" sz="220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Krakn</a:t>
              </a:r>
              <a:endParaRPr b="0" i="0" sz="2200" u="none" cap="none" strike="noStrike"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9240575" y="5758238"/>
              <a:ext cx="3726000" cy="5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1428"/>
                </a:lnSpc>
                <a:spcBef>
                  <a:spcPts val="0"/>
                </a:spcBef>
                <a:spcAft>
                  <a:spcPts val="0"/>
                </a:spcAft>
                <a:buClr>
                  <a:srgbClr val="EBEDF0"/>
                </a:buClr>
                <a:buSzPts val="1750"/>
                <a:buFont typeface="Geist"/>
                <a:buNone/>
              </a:pP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Partenaire Externe </a:t>
              </a: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identifié</a:t>
              </a:r>
              <a:b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</a:br>
              <a:r>
                <a:rPr lang="en-US" sz="1750">
                  <a:solidFill>
                    <a:srgbClr val="EBEDF0"/>
                  </a:solidFill>
                  <a:latin typeface="Geist"/>
                  <a:ea typeface="Geist"/>
                  <a:cs typeface="Geist"/>
                  <a:sym typeface="Geist"/>
                </a:rPr>
                <a:t>Négociation en cours</a:t>
              </a:r>
              <a:endParaRPr b="0" i="0" sz="1750" u="none" cap="none" strike="noStrike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5"/>
          <p:cNvSpPr/>
          <p:nvPr/>
        </p:nvSpPr>
        <p:spPr>
          <a:xfrm>
            <a:off x="793790" y="785574"/>
            <a:ext cx="5670590" cy="737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i="0" lang="en-US" sz="4450" u="none" cap="none" strike="noStrike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Prochaines étapes</a:t>
            </a:r>
            <a:endParaRPr b="0" i="0" sz="4450" u="none" cap="none" strike="noStrike"/>
          </a:p>
        </p:txBody>
      </p:sp>
      <p:sp>
        <p:nvSpPr>
          <p:cNvPr id="606" name="Google Shape;606;p35"/>
          <p:cNvSpPr/>
          <p:nvPr/>
        </p:nvSpPr>
        <p:spPr>
          <a:xfrm>
            <a:off x="793790" y="3977759"/>
            <a:ext cx="13042821" cy="30480"/>
          </a:xfrm>
          <a:prstGeom prst="roundRect">
            <a:avLst>
              <a:gd fmla="val 312558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35"/>
          <p:cNvSpPr/>
          <p:nvPr/>
        </p:nvSpPr>
        <p:spPr>
          <a:xfrm>
            <a:off x="3968353" y="3297317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5"/>
          <p:cNvSpPr/>
          <p:nvPr/>
        </p:nvSpPr>
        <p:spPr>
          <a:xfrm>
            <a:off x="3728442" y="372260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5"/>
          <p:cNvSpPr/>
          <p:nvPr/>
        </p:nvSpPr>
        <p:spPr>
          <a:xfrm>
            <a:off x="3813512" y="3756660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1</a:t>
            </a:r>
            <a:endParaRPr b="0" i="0" sz="2650" u="none" cap="none" strike="noStrike"/>
          </a:p>
        </p:txBody>
      </p:sp>
      <p:sp>
        <p:nvSpPr>
          <p:cNvPr id="610" name="Google Shape;610;p35"/>
          <p:cNvSpPr/>
          <p:nvPr/>
        </p:nvSpPr>
        <p:spPr>
          <a:xfrm>
            <a:off x="1056500" y="2013125"/>
            <a:ext cx="5854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Création des supports et produits</a:t>
            </a:r>
            <a:endParaRPr sz="22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t/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1" name="Google Shape;611;p35"/>
          <p:cNvSpPr/>
          <p:nvPr/>
        </p:nvSpPr>
        <p:spPr>
          <a:xfrm>
            <a:off x="1020604" y="2480905"/>
            <a:ext cx="59259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Produire les guides et outils (devis) pour Sales et CSM afin d'assurer une adoption homogène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t/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2" name="Google Shape;612;p35"/>
          <p:cNvSpPr/>
          <p:nvPr/>
        </p:nvSpPr>
        <p:spPr>
          <a:xfrm>
            <a:off x="7299841" y="3977759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5"/>
          <p:cNvSpPr/>
          <p:nvPr/>
        </p:nvSpPr>
        <p:spPr>
          <a:xfrm>
            <a:off x="7059930" y="372260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5"/>
          <p:cNvSpPr/>
          <p:nvPr/>
        </p:nvSpPr>
        <p:spPr>
          <a:xfrm>
            <a:off x="7145000" y="3756660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2</a:t>
            </a:r>
            <a:endParaRPr b="0" i="0" sz="2650" u="none" cap="none" strike="noStrike"/>
          </a:p>
        </p:txBody>
      </p:sp>
      <p:sp>
        <p:nvSpPr>
          <p:cNvPr id="615" name="Google Shape;615;p35"/>
          <p:cNvSpPr/>
          <p:nvPr/>
        </p:nvSpPr>
        <p:spPr>
          <a:xfrm>
            <a:off x="4802267" y="4885015"/>
            <a:ext cx="5025628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Tests contrôlés et itérations</a:t>
            </a:r>
            <a:endParaRPr b="1" sz="220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6" name="Google Shape;616;p35"/>
          <p:cNvSpPr/>
          <p:nvPr/>
        </p:nvSpPr>
        <p:spPr>
          <a:xfrm>
            <a:off x="4352092" y="5389602"/>
            <a:ext cx="592609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Déploiement progressif pour ajuster avant généralisation et remontée des cas problématiques</a:t>
            </a:r>
            <a:endParaRPr sz="175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t/>
            </a:r>
            <a:endParaRPr sz="17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17" name="Google Shape;617;p35"/>
          <p:cNvSpPr/>
          <p:nvPr/>
        </p:nvSpPr>
        <p:spPr>
          <a:xfrm>
            <a:off x="10631448" y="3297317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002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5"/>
          <p:cNvSpPr/>
          <p:nvPr/>
        </p:nvSpPr>
        <p:spPr>
          <a:xfrm>
            <a:off x="10391537" y="372260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101620"/>
          </a:solidFill>
          <a:ln cap="flat" cmpd="sng" w="22850">
            <a:solidFill>
              <a:srgbClr val="002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35"/>
          <p:cNvSpPr/>
          <p:nvPr/>
        </p:nvSpPr>
        <p:spPr>
          <a:xfrm>
            <a:off x="10476607" y="3756660"/>
            <a:ext cx="340162" cy="442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650"/>
              <a:buFont typeface="Geist"/>
              <a:buNone/>
            </a:pPr>
            <a:r>
              <a:rPr b="1" i="0" lang="en-US" sz="26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3</a:t>
            </a:r>
            <a:endParaRPr b="0" i="0" sz="2650" u="none" cap="none" strike="noStrike"/>
          </a:p>
        </p:txBody>
      </p:sp>
      <p:sp>
        <p:nvSpPr>
          <p:cNvPr id="620" name="Google Shape;620;p35"/>
          <p:cNvSpPr/>
          <p:nvPr/>
        </p:nvSpPr>
        <p:spPr>
          <a:xfrm>
            <a:off x="8694301" y="1976318"/>
            <a:ext cx="3904893" cy="368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2200"/>
              <a:buFont typeface="Geist"/>
              <a:buNone/>
            </a:pPr>
            <a:r>
              <a:rPr b="1" lang="en-US" sz="220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Transfert des clients actuel</a:t>
            </a:r>
            <a:endParaRPr b="0" i="0" sz="2200" u="none" cap="none" strike="noStrike"/>
          </a:p>
        </p:txBody>
      </p:sp>
      <p:sp>
        <p:nvSpPr>
          <p:cNvPr id="621" name="Google Shape;621;p35"/>
          <p:cNvSpPr/>
          <p:nvPr/>
        </p:nvSpPr>
        <p:spPr>
          <a:xfrm>
            <a:off x="7683698" y="2480905"/>
            <a:ext cx="592609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Modification des plans et activation des legacy pour 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renouveler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sur le nouveau pricing</a:t>
            </a:r>
            <a:endParaRPr b="0" i="0" sz="1750" u="none" cap="none" strike="noStrike"/>
          </a:p>
        </p:txBody>
      </p:sp>
      <p:sp>
        <p:nvSpPr>
          <p:cNvPr id="622" name="Google Shape;622;p35"/>
          <p:cNvSpPr/>
          <p:nvPr/>
        </p:nvSpPr>
        <p:spPr>
          <a:xfrm>
            <a:off x="793790" y="6347731"/>
            <a:ext cx="13042821" cy="35957"/>
          </a:xfrm>
          <a:prstGeom prst="rect">
            <a:avLst/>
          </a:prstGeom>
          <a:solidFill>
            <a:srgbClr val="EBEDF0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5"/>
          <p:cNvSpPr/>
          <p:nvPr/>
        </p:nvSpPr>
        <p:spPr>
          <a:xfrm>
            <a:off x="1133951" y="6893957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L'objectif est une offre plus lisible, défendable et scalable pour 202</a:t>
            </a:r>
            <a:r>
              <a:rPr lang="en-US" sz="17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6</a:t>
            </a: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b="0" i="0" sz="1750" u="none" cap="none" strike="noStrike"/>
          </a:p>
        </p:txBody>
      </p:sp>
      <p:sp>
        <p:nvSpPr>
          <p:cNvPr id="624" name="Google Shape;624;p35"/>
          <p:cNvSpPr/>
          <p:nvPr/>
        </p:nvSpPr>
        <p:spPr>
          <a:xfrm>
            <a:off x="793790" y="6638806"/>
            <a:ext cx="30480" cy="805101"/>
          </a:xfrm>
          <a:prstGeom prst="rect">
            <a:avLst/>
          </a:prstGeom>
          <a:solidFill>
            <a:srgbClr val="629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5" name="Google Shape;625;p35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1" name="Google Shape;63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6"/>
          <p:cNvSpPr/>
          <p:nvPr/>
        </p:nvSpPr>
        <p:spPr>
          <a:xfrm>
            <a:off x="793790" y="3060144"/>
            <a:ext cx="7556400" cy="14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37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4450"/>
              <a:buFont typeface="Geist"/>
              <a:buNone/>
            </a:pPr>
            <a:r>
              <a:rPr b="1" lang="en-US" sz="445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ANNEXE</a:t>
            </a:r>
            <a:endParaRPr b="0" i="0" sz="4450" u="none" cap="none" strike="noStrike"/>
          </a:p>
        </p:txBody>
      </p:sp>
      <p:sp>
        <p:nvSpPr>
          <p:cNvPr id="633" name="Google Shape;633;p36"/>
          <p:cNvSpPr/>
          <p:nvPr/>
        </p:nvSpPr>
        <p:spPr>
          <a:xfrm>
            <a:off x="793790" y="4874538"/>
            <a:ext cx="7556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750"/>
              <a:buFont typeface="Geist"/>
              <a:buNone/>
            </a:pPr>
            <a:r>
              <a:rPr b="0" i="0" lang="en-US" sz="1750" u="none" cap="none" strike="noStrike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Résultats des ateliers inter-équipes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7"/>
          <p:cNvSpPr/>
          <p:nvPr/>
        </p:nvSpPr>
        <p:spPr>
          <a:xfrm>
            <a:off x="766525" y="957625"/>
            <a:ext cx="5245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rPr b="1" lang="en-US" sz="3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Annexe : Atelier Tech</a:t>
            </a:r>
            <a:endParaRPr b="0" i="0" sz="3400" u="none" cap="none" strike="noStrike"/>
          </a:p>
        </p:txBody>
      </p:sp>
      <p:pic>
        <p:nvPicPr>
          <p:cNvPr id="640" name="Google Shape;640;p37" title="Marketplace - Value_Cost Matrix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25" y="2017650"/>
            <a:ext cx="11465677" cy="597917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37"/>
          <p:cNvSpPr/>
          <p:nvPr/>
        </p:nvSpPr>
        <p:spPr>
          <a:xfrm>
            <a:off x="766524" y="1527033"/>
            <a:ext cx="63351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lang="en-US" sz="13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Cartographie des fonctionnalités selon valeur client et coût tech (run / support)</a:t>
            </a:r>
            <a:endParaRPr b="0" i="0" sz="1350" u="none" cap="none" strike="noStrike"/>
          </a:p>
        </p:txBody>
      </p:sp>
      <p:pic>
        <p:nvPicPr>
          <p:cNvPr id="642" name="Google Shape;642;p37" title="Capture d’écran 2026-01-29 à 15.00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8"/>
          <p:cNvSpPr/>
          <p:nvPr/>
        </p:nvSpPr>
        <p:spPr>
          <a:xfrm>
            <a:off x="766525" y="957625"/>
            <a:ext cx="5245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rPr b="1" lang="en-US" sz="3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Annexe : Atelier CSM</a:t>
            </a:r>
            <a:endParaRPr b="0" i="0" sz="3400" u="none" cap="none" strike="noStrike"/>
          </a:p>
        </p:txBody>
      </p:sp>
      <p:sp>
        <p:nvSpPr>
          <p:cNvPr id="649" name="Google Shape;649;p38"/>
          <p:cNvSpPr/>
          <p:nvPr/>
        </p:nvSpPr>
        <p:spPr>
          <a:xfrm>
            <a:off x="766525" y="1527025"/>
            <a:ext cx="743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lang="en-US" sz="13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Cartographie des fonctionnalités </a:t>
            </a:r>
            <a:r>
              <a:rPr lang="en-US" sz="13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selon cycle de vie client et identification des leviers</a:t>
            </a:r>
            <a:endParaRPr b="0" i="0" sz="1350" u="none" cap="none" strike="noStrike"/>
          </a:p>
        </p:txBody>
      </p:sp>
      <p:pic>
        <p:nvPicPr>
          <p:cNvPr id="650" name="Google Shape;650;p38" title="Marketplace - Usage Perspective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25" y="1967050"/>
            <a:ext cx="11747026" cy="608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8" title="Capture d’écran 2026-01-29 à 15.00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9"/>
          <p:cNvSpPr/>
          <p:nvPr/>
        </p:nvSpPr>
        <p:spPr>
          <a:xfrm>
            <a:off x="766525" y="957625"/>
            <a:ext cx="5245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rPr b="1" lang="en-US" sz="3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Annexe : Atelier Sales</a:t>
            </a:r>
            <a:endParaRPr b="0" i="0" sz="3400" u="none" cap="none" strike="noStrike"/>
          </a:p>
        </p:txBody>
      </p:sp>
      <p:sp>
        <p:nvSpPr>
          <p:cNvPr id="658" name="Google Shape;658;p39"/>
          <p:cNvSpPr/>
          <p:nvPr/>
        </p:nvSpPr>
        <p:spPr>
          <a:xfrm>
            <a:off x="766525" y="1527025"/>
            <a:ext cx="743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lang="en-US" sz="13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Cartographie des fonctionnalités</a:t>
            </a:r>
            <a:r>
              <a:rPr lang="en-US" sz="13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 selon la facilité de vente et la pression concurrentielle</a:t>
            </a:r>
            <a:endParaRPr sz="13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id="659" name="Google Shape;659;p39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39" title="Marketplace - Sales Facility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525" y="1844125"/>
            <a:ext cx="12607365" cy="6192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0"/>
          <p:cNvSpPr/>
          <p:nvPr/>
        </p:nvSpPr>
        <p:spPr>
          <a:xfrm>
            <a:off x="766525" y="957625"/>
            <a:ext cx="7196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F2F5FA"/>
              </a:buClr>
              <a:buSzPts val="3400"/>
              <a:buFont typeface="Geist"/>
              <a:buNone/>
            </a:pPr>
            <a:r>
              <a:rPr b="1" lang="en-US" sz="3400">
                <a:solidFill>
                  <a:srgbClr val="F2F5FA"/>
                </a:solidFill>
                <a:latin typeface="Geist"/>
                <a:ea typeface="Geist"/>
                <a:cs typeface="Geist"/>
                <a:sym typeface="Geist"/>
              </a:rPr>
              <a:t>Annexe : Atelier Consolidation</a:t>
            </a:r>
            <a:endParaRPr b="0" i="0" sz="3400" u="none" cap="none" strike="noStrike"/>
          </a:p>
        </p:txBody>
      </p:sp>
      <p:sp>
        <p:nvSpPr>
          <p:cNvPr id="667" name="Google Shape;667;p40"/>
          <p:cNvSpPr/>
          <p:nvPr/>
        </p:nvSpPr>
        <p:spPr>
          <a:xfrm>
            <a:off x="766525" y="1527025"/>
            <a:ext cx="74364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Clr>
                <a:srgbClr val="EBEDF0"/>
              </a:buClr>
              <a:buSzPts val="1350"/>
              <a:buFont typeface="Geist"/>
              <a:buNone/>
            </a:pPr>
            <a:r>
              <a:rPr lang="en-US" sz="1350">
                <a:solidFill>
                  <a:srgbClr val="EBEDF0"/>
                </a:solidFill>
                <a:latin typeface="Geist"/>
                <a:ea typeface="Geist"/>
                <a:cs typeface="Geist"/>
                <a:sym typeface="Geist"/>
              </a:rPr>
              <a:t>Consolidation du socle et des packs</a:t>
            </a:r>
            <a:endParaRPr sz="1350">
              <a:solidFill>
                <a:srgbClr val="EBEDF0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pic>
        <p:nvPicPr>
          <p:cNvPr id="668" name="Google Shape;668;p40" title="Capture d’écran 2026-01-29 à 15.0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899" y="7530350"/>
            <a:ext cx="1826950" cy="6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40" title="Marketplace - Exercice 4 (2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4538" y="1907100"/>
            <a:ext cx="10641325" cy="60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